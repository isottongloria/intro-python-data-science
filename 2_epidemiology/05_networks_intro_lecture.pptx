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753600" cy="73152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P(k)</c:v>
                </c:pt>
              </c:strCache>
            </c:strRef>
          </c:tx>
          <c:spPr>
            <a:solidFill>
              <a:srgbClr val="ff3399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500" spc="-1" strike="noStrike">
                    <a:solidFill>
                      <a:srgbClr val="161616"/>
                    </a:solidFill>
                    <a:latin typeface="Lato"/>
                    <a:ea typeface="Lat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0.4</c:v>
                </c:pt>
                <c:pt idx="1">
                  <c:v>0.4</c:v>
                </c:pt>
                <c:pt idx="2">
                  <c:v>0</c:v>
                </c:pt>
                <c:pt idx="3">
                  <c:v>0.2</c:v>
                </c:pt>
              </c:numCache>
            </c:numRef>
          </c:val>
        </c:ser>
        <c:gapWidth val="90"/>
        <c:overlap val="0"/>
        <c:axId val="41265"/>
        <c:axId val="32059297"/>
      </c:barChart>
      <c:catAx>
        <c:axId val="4126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1" sz="1000" spc="-1" strike="noStrike">
                    <a:solidFill>
                      <a:srgbClr val="000000"/>
                    </a:solidFill>
                    <a:latin typeface="Lato"/>
                    <a:ea typeface="Lato"/>
                  </a:defRPr>
                </a:pPr>
                <a:r>
                  <a:rPr b="1" sz="1000" spc="-1" strike="noStrike">
                    <a:solidFill>
                      <a:srgbClr val="000000"/>
                    </a:solidFill>
                    <a:latin typeface="Lato"/>
                    <a:ea typeface="Lato"/>
                  </a:rPr>
                  <a:t>Grado k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500" spc="-1" strike="noStrike">
                <a:solidFill>
                  <a:srgbClr val="161616"/>
                </a:solidFill>
                <a:latin typeface="Lato"/>
                <a:ea typeface="Lato"/>
              </a:defRPr>
            </a:pPr>
          </a:p>
        </c:txPr>
        <c:crossAx val="32059297"/>
        <c:crosses val="autoZero"/>
        <c:auto val="1"/>
        <c:lblAlgn val="ctr"/>
        <c:lblOffset val="100"/>
        <c:noMultiLvlLbl val="0"/>
      </c:catAx>
      <c:valAx>
        <c:axId val="32059297"/>
        <c:scaling>
          <c:orientation val="minMax"/>
          <c:max val="0.5"/>
          <c:min val="0"/>
        </c:scaling>
        <c:delete val="0"/>
        <c:axPos val="l"/>
        <c:majorGridlines>
          <c:spPr>
            <a:ln w="9360">
              <a:solidFill>
                <a:srgbClr val="e8e8e8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350" spc="-1" strike="noStrike">
                <a:solidFill>
                  <a:srgbClr val="555555"/>
                </a:solidFill>
                <a:latin typeface="Lato"/>
                <a:ea typeface="Lato"/>
              </a:defRPr>
            </a:pPr>
          </a:p>
        </c:txPr>
        <c:crossAx val="41265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ptos"/>
              </a:rPr>
              <a:t>Fai clic per spostare la diapositiva</a:t>
            </a: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it-IT" sz="2000" spc="-1" strike="noStrike">
                <a:latin typeface="Arial"/>
              </a:rPr>
              <a:t>Fai clic per modificare il formato delle note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it-IT" sz="1400" spc="-1" strike="noStrike">
                <a:latin typeface="Times New Roman"/>
              </a:rPr>
              <a:t>&lt;intestazione&gt;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it-IT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it-IT" sz="1400" spc="-1" strike="noStrike">
                <a:latin typeface="Times New Roman"/>
              </a:rPr>
              <a:t>&lt;data/ora&gt;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it-IT" sz="1400" spc="-1" strike="noStrike">
                <a:latin typeface="Times New Roman"/>
              </a:defRPr>
            </a:lvl1pPr>
          </a:lstStyle>
          <a:p>
            <a:r>
              <a:rPr b="0" lang="it-IT" sz="1400" spc="-1" strike="noStrike">
                <a:latin typeface="Times New Roman"/>
              </a:rPr>
              <a:t>&lt;piè di pagina&gt;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it-IT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88E8ADC-28F6-489D-AB63-271589FD7133}" type="slidenum">
              <a:rPr b="0" lang="it-IT" sz="1400" spc="-1" strike="noStrike">
                <a:latin typeface="Times New Roman"/>
              </a:rPr>
              <a:t>&lt;numero&gt;</a:t>
            </a:fld>
            <a:endParaRPr b="0" lang="it-IT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11–12. File fornito dall'utente: 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Una rete, o grafo, descrive entità e relazioni. V è l'insieme dei nodi, E quello degli archi. N e L indicano rispettivamente il numero di nodi e archi. Esempi: persone e contatti, aeroporti e collegamenti, proteine e interazioni. L'arco va definito in modo coerente con la domanda di studio.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Riferimenti della traccia: M. E. J. Newman, Networks, Oxford University Press, 2018. Barrat, Barthélemy e Vespignani, Dynamical Processes on Complex Networks, Cambridge University Press, 2008.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</a:t>
            </a:r>
            <a:r>
              <a:rPr b="0" lang="it-IT" sz="2000" spc="-1" strike="noStrike">
                <a:latin typeface="Arial"/>
              </a:rPr>
              <a:t>LDE9.pdf, slide </a:t>
            </a:r>
            <a:r>
              <a:rPr b="0" lang="it-IT" sz="2000" spc="-1" strike="noStrike">
                <a:latin typeface="Arial"/>
              </a:rPr>
              <a:t>13, 20. File </a:t>
            </a:r>
            <a:r>
              <a:rPr b="0" lang="it-IT" sz="2000" spc="-1" strike="noStrike">
                <a:latin typeface="Arial"/>
              </a:rPr>
              <a:t>fornito </a:t>
            </a:r>
            <a:r>
              <a:rPr b="0" lang="it-IT" sz="2000" spc="-1" strike="noStrike">
                <a:latin typeface="Arial"/>
              </a:rPr>
              <a:t>dall'utente: </a:t>
            </a:r>
            <a:r>
              <a:rPr b="0" lang="it-IT" sz="2000" spc="-1" strike="noStrike">
                <a:latin typeface="Arial"/>
              </a:rPr>
              <a:t>/home/gloria/Scri</a:t>
            </a:r>
            <a:r>
              <a:rPr b="0" lang="it-IT" sz="2000" spc="-1" strike="noStrike">
                <a:latin typeface="Arial"/>
              </a:rPr>
              <a:t>vania/II_Pod/Life </a:t>
            </a:r>
            <a:r>
              <a:rPr b="0" lang="it-IT" sz="2000" spc="-1" strike="noStrike">
                <a:latin typeface="Arial"/>
              </a:rPr>
              <a:t>data </a:t>
            </a:r>
            <a:r>
              <a:rPr b="0" lang="it-IT" sz="2000" spc="-1" strike="noStrike">
                <a:latin typeface="Arial"/>
              </a:rPr>
              <a:t>epidemiology/LD</a:t>
            </a:r>
            <a:r>
              <a:rPr b="0" lang="it-IT" sz="2000" spc="-1" strike="noStrike">
                <a:latin typeface="Arial"/>
              </a:rPr>
              <a:t>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Le formule della </a:t>
            </a:r>
            <a:r>
              <a:rPr b="0" lang="it-IT" sz="2000" spc="-1" strike="noStrike">
                <a:latin typeface="Arial"/>
              </a:rPr>
              <a:t>densità si </a:t>
            </a:r>
            <a:r>
              <a:rPr b="0" lang="it-IT" sz="2000" spc="-1" strike="noStrike">
                <a:latin typeface="Arial"/>
              </a:rPr>
              <a:t>riferiscono a grafi </a:t>
            </a:r>
            <a:r>
              <a:rPr b="0" lang="it-IT" sz="2000" spc="-1" strike="noStrike">
                <a:latin typeface="Arial"/>
              </a:rPr>
              <a:t>semplici senza </a:t>
            </a:r>
            <a:r>
              <a:rPr b="0" lang="it-IT" sz="2000" spc="-1" strike="noStrike">
                <a:latin typeface="Arial"/>
              </a:rPr>
              <a:t>autoarchi e con </a:t>
            </a:r>
            <a:r>
              <a:rPr b="0" lang="it-IT" sz="2000" spc="-1" strike="noStrike">
                <a:latin typeface="Arial"/>
              </a:rPr>
              <a:t>N &gt; 1. Non </a:t>
            </a:r>
            <a:r>
              <a:rPr b="0" lang="it-IT" sz="2000" spc="-1" strike="noStrike">
                <a:latin typeface="Arial"/>
              </a:rPr>
              <a:t>diretta: d = L / </a:t>
            </a:r>
            <a:r>
              <a:rPr b="0" lang="it-IT" sz="2000" spc="-1" strike="noStrike">
                <a:latin typeface="Arial"/>
              </a:rPr>
              <a:t>[N(N-1)/2] = </a:t>
            </a:r>
            <a:r>
              <a:rPr b="0" lang="it-IT" sz="2000" spc="-1" strike="noStrike">
                <a:latin typeface="Arial"/>
              </a:rPr>
              <a:t>2L/[N(N-1)]. </a:t>
            </a:r>
            <a:r>
              <a:rPr b="0" lang="it-IT" sz="2000" spc="-1" strike="noStrike">
                <a:latin typeface="Arial"/>
              </a:rPr>
              <a:t>Diretta: d = </a:t>
            </a:r>
            <a:r>
              <a:rPr b="0" lang="it-IT" sz="2000" spc="-1" strike="noStrike">
                <a:latin typeface="Arial"/>
              </a:rPr>
              <a:t>L/[N(N-1)]. Il </a:t>
            </a:r>
            <a:r>
              <a:rPr b="0" lang="it-IT" sz="2000" spc="-1" strike="noStrike">
                <a:latin typeface="Arial"/>
              </a:rPr>
              <a:t>denominatore </a:t>
            </a:r>
            <a:r>
              <a:rPr b="0" lang="it-IT" sz="2000" spc="-1" strike="noStrike">
                <a:latin typeface="Arial"/>
              </a:rPr>
              <a:t>N(N-1) riportato </a:t>
            </a:r>
            <a:r>
              <a:rPr b="0" lang="it-IT" sz="2000" spc="-1" strike="noStrike">
                <a:latin typeface="Arial"/>
              </a:rPr>
              <a:t>nella slide 13 </a:t>
            </a:r>
            <a:r>
              <a:rPr b="0" lang="it-IT" sz="2000" spc="-1" strike="noStrike">
                <a:latin typeface="Arial"/>
              </a:rPr>
              <a:t>della traccia vale </a:t>
            </a:r>
            <a:r>
              <a:rPr b="0" lang="it-IT" sz="2000" spc="-1" strike="noStrike">
                <a:latin typeface="Arial"/>
              </a:rPr>
              <a:t>per gli archi </a:t>
            </a:r>
            <a:r>
              <a:rPr b="0" lang="it-IT" sz="2000" spc="-1" strike="noStrike">
                <a:latin typeface="Arial"/>
              </a:rPr>
              <a:t>diretti. La densità </a:t>
            </a:r>
            <a:r>
              <a:rPr b="0" lang="it-IT" sz="2000" spc="-1" strike="noStrike">
                <a:latin typeface="Arial"/>
              </a:rPr>
              <a:t>riguarda la </a:t>
            </a:r>
            <a:r>
              <a:rPr b="0" lang="it-IT" sz="2000" spc="-1" strike="noStrike">
                <a:latin typeface="Arial"/>
              </a:rPr>
              <a:t>presenza degli </a:t>
            </a:r>
            <a:r>
              <a:rPr b="0" lang="it-IT" sz="2000" spc="-1" strike="noStrike">
                <a:latin typeface="Arial"/>
              </a:rPr>
              <a:t>archi, non la </a:t>
            </a:r>
            <a:r>
              <a:rPr b="0" lang="it-IT" sz="2000" spc="-1" strike="noStrike">
                <a:latin typeface="Arial"/>
              </a:rPr>
              <a:t>somma dei pesi. </a:t>
            </a:r>
            <a:r>
              <a:rPr b="0" lang="it-IT" sz="2000" spc="-1" strike="noStrike">
                <a:latin typeface="Arial"/>
              </a:rPr>
              <a:t>Reti sparse: L è </a:t>
            </a:r>
            <a:r>
              <a:rPr b="0" lang="it-IT" sz="2000" spc="-1" strike="noStrike">
                <a:latin typeface="Arial"/>
              </a:rPr>
              <a:t>molto inferiore al </a:t>
            </a:r>
            <a:r>
              <a:rPr b="0" lang="it-IT" sz="2000" spc="-1" strike="noStrike">
                <a:latin typeface="Arial"/>
              </a:rPr>
              <a:t>numero di coppie </a:t>
            </a:r>
            <a:r>
              <a:rPr b="0" lang="it-IT" sz="2000" spc="-1" strike="noStrike">
                <a:latin typeface="Arial"/>
              </a:rPr>
              <a:t>possibili.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4.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1,</a:t>
            </a:r>
            <a:r>
              <a:rPr b="0" lang="it-IT" sz="2000" spc="-1" strike="noStrike">
                <a:latin typeface="Arial"/>
              </a:rPr>
              <a:t>2,</a:t>
            </a:r>
            <a:r>
              <a:rPr b="0" lang="it-IT" sz="2000" spc="-1" strike="noStrike">
                <a:latin typeface="Arial"/>
              </a:rPr>
              <a:t>3,</a:t>
            </a:r>
            <a:r>
              <a:rPr b="0" lang="it-IT" sz="2000" spc="-1" strike="noStrike">
                <a:latin typeface="Arial"/>
              </a:rPr>
              <a:t>4,</a:t>
            </a:r>
            <a:r>
              <a:rPr b="0" lang="it-IT" sz="2000" spc="-1" strike="noStrike">
                <a:latin typeface="Arial"/>
              </a:rPr>
              <a:t>5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1,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2,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2,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2,</a:t>
            </a:r>
            <a:r>
              <a:rPr b="0" lang="it-IT" sz="2000" spc="-1" strike="noStrike">
                <a:latin typeface="Arial"/>
              </a:rPr>
              <a:t>5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4,</a:t>
            </a:r>
            <a:r>
              <a:rPr b="0" lang="it-IT" sz="2000" spc="-1" strike="noStrike">
                <a:latin typeface="Arial"/>
              </a:rPr>
              <a:t>5</a:t>
            </a:r>
            <a:r>
              <a:rPr b="0" lang="it-IT" sz="2000" spc="-1" strike="noStrike">
                <a:latin typeface="Arial"/>
              </a:rPr>
              <a:t>).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ij </a:t>
            </a:r>
            <a:r>
              <a:rPr b="0" lang="it-IT" sz="2000" spc="-1" strike="noStrike">
                <a:latin typeface="Arial"/>
              </a:rPr>
              <a:t>= </a:t>
            </a:r>
            <a:r>
              <a:rPr b="0" lang="it-IT" sz="2000" spc="-1" strike="noStrike">
                <a:latin typeface="Arial"/>
              </a:rPr>
              <a:t>1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o, </a:t>
            </a:r>
            <a:r>
              <a:rPr b="0" lang="it-IT" sz="2000" spc="-1" strike="noStrike">
                <a:latin typeface="Arial"/>
              </a:rPr>
              <a:t>0 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tri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i.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af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a. </a:t>
            </a:r>
            <a:r>
              <a:rPr b="0" lang="it-IT" sz="2000" spc="-1" strike="noStrike">
                <a:latin typeface="Arial"/>
              </a:rPr>
              <a:t>In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ò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ta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ò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in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ta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i.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e, 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ta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ta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5,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1.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l'i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ki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af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pl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to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[1</a:t>
            </a:r>
            <a:r>
              <a:rPr b="0" lang="it-IT" sz="2000" spc="-1" strike="noStrike">
                <a:latin typeface="Arial"/>
              </a:rPr>
              <a:t>,4</a:t>
            </a:r>
            <a:r>
              <a:rPr b="0" lang="it-IT" sz="2000" spc="-1" strike="noStrike">
                <a:latin typeface="Arial"/>
              </a:rPr>
              <a:t>,1</a:t>
            </a:r>
            <a:r>
              <a:rPr b="0" lang="it-IT" sz="2000" spc="-1" strike="noStrike">
                <a:latin typeface="Arial"/>
              </a:rPr>
              <a:t>,2</a:t>
            </a:r>
            <a:r>
              <a:rPr b="0" lang="it-IT" sz="2000" spc="-1" strike="noStrike">
                <a:latin typeface="Arial"/>
              </a:rPr>
              <a:t>,2</a:t>
            </a:r>
            <a:r>
              <a:rPr b="0" lang="it-IT" sz="2000" spc="-1" strike="noStrike">
                <a:latin typeface="Arial"/>
              </a:rPr>
              <a:t>].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L </a:t>
            </a:r>
            <a:r>
              <a:rPr b="0" lang="it-IT" sz="2000" spc="-1" strike="noStrike">
                <a:latin typeface="Arial"/>
              </a:rPr>
              <a:t>=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0,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2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)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2/</a:t>
            </a:r>
            <a:r>
              <a:rPr b="0" lang="it-IT" sz="2000" spc="-1" strike="noStrike">
                <a:latin typeface="Arial"/>
              </a:rPr>
              <a:t>5,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)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2/</a:t>
            </a:r>
            <a:r>
              <a:rPr b="0" lang="it-IT" sz="2000" spc="-1" strike="noStrike">
                <a:latin typeface="Arial"/>
              </a:rPr>
              <a:t>5,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)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0,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)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1/</a:t>
            </a:r>
            <a:r>
              <a:rPr b="0" lang="it-IT" sz="2000" spc="-1" strike="noStrike">
                <a:latin typeface="Arial"/>
              </a:rPr>
              <a:t>5.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af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ti,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te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e,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hi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6.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Per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af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pl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to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=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i / </a:t>
            </a:r>
            <a:r>
              <a:rPr b="0" lang="it-IT" sz="2000" spc="-1" strike="noStrike">
                <a:latin typeface="Arial"/>
              </a:rPr>
              <a:t>[k</a:t>
            </a:r>
            <a:r>
              <a:rPr b="0" lang="it-IT" sz="2000" spc="-1" strike="noStrike">
                <a:latin typeface="Arial"/>
              </a:rPr>
              <a:t>i(</a:t>
            </a:r>
            <a:r>
              <a:rPr b="0" lang="it-IT" sz="2000" spc="-1" strike="noStrike">
                <a:latin typeface="Arial"/>
              </a:rPr>
              <a:t>ki</a:t>
            </a:r>
            <a:r>
              <a:rPr b="0" lang="it-IT" sz="2000" spc="-1" strike="noStrike">
                <a:latin typeface="Arial"/>
              </a:rPr>
              <a:t>-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)/</a:t>
            </a:r>
            <a:r>
              <a:rPr b="0" lang="it-IT" sz="2000" spc="-1" strike="noStrike">
                <a:latin typeface="Arial"/>
              </a:rPr>
              <a:t>2]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i.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oi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ki </a:t>
            </a:r>
            <a:r>
              <a:rPr b="0" lang="it-IT" sz="2000" spc="-1" strike="noStrike">
                <a:latin typeface="Arial"/>
              </a:rPr>
              <a:t>&lt; </a:t>
            </a:r>
            <a:r>
              <a:rPr b="0" lang="it-IT" sz="2000" spc="-1" strike="noStrike">
                <a:latin typeface="Arial"/>
              </a:rPr>
              <a:t>2,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ul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vr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o: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rk</a:t>
            </a:r>
            <a:r>
              <a:rPr b="0" lang="it-IT" sz="2000" spc="-1" strike="noStrike">
                <a:latin typeface="Arial"/>
              </a:rPr>
              <a:t>X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i=</a:t>
            </a:r>
            <a:r>
              <a:rPr b="0" lang="it-IT" sz="2000" spc="-1" strike="noStrike">
                <a:latin typeface="Arial"/>
              </a:rPr>
              <a:t>0.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cl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ef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i,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ta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ti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tà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5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2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4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o,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1/</a:t>
            </a:r>
            <a:r>
              <a:rPr b="0" lang="it-IT" sz="2000" spc="-1" strike="noStrike">
                <a:latin typeface="Arial"/>
              </a:rPr>
              <a:t>6.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ui 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+</a:t>
            </a:r>
            <a:r>
              <a:rPr b="0" lang="it-IT" sz="2000" spc="-1" strike="noStrike">
                <a:latin typeface="Arial"/>
              </a:rPr>
              <a:t>1/</a:t>
            </a:r>
            <a:r>
              <a:rPr b="0" lang="it-IT" sz="2000" spc="-1" strike="noStrike">
                <a:latin typeface="Arial"/>
              </a:rPr>
              <a:t>6</a:t>
            </a:r>
            <a:r>
              <a:rPr b="0" lang="it-IT" sz="2000" spc="-1" strike="noStrike">
                <a:latin typeface="Arial"/>
              </a:rPr>
              <a:t>+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+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+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)/</a:t>
            </a:r>
            <a:r>
              <a:rPr b="0" lang="it-IT" sz="2000" spc="-1" strike="noStrike">
                <a:latin typeface="Arial"/>
              </a:rPr>
              <a:t>5 </a:t>
            </a:r>
            <a:r>
              <a:rPr b="0" lang="it-IT" sz="2000" spc="-1" strike="noStrike">
                <a:latin typeface="Arial"/>
              </a:rPr>
              <a:t>=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3/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0 </a:t>
            </a:r>
            <a:r>
              <a:rPr b="0" lang="it-IT" sz="2000" spc="-1" strike="noStrike">
                <a:latin typeface="Arial"/>
              </a:rPr>
              <a:t>≈ </a:t>
            </a:r>
            <a:r>
              <a:rPr b="0" lang="it-IT" sz="2000" spc="-1" strike="noStrike">
                <a:latin typeface="Arial"/>
              </a:rPr>
              <a:t>0,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3.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7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8.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Un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pl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ù </a:t>
            </a:r>
            <a:r>
              <a:rPr b="0" lang="it-IT" sz="2000" spc="-1" strike="noStrike">
                <a:latin typeface="Arial"/>
              </a:rPr>
              <a:t>lu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li. </a:t>
            </a:r>
            <a:r>
              <a:rPr b="0" lang="it-IT" sz="2000" spc="-1" strike="noStrike">
                <a:latin typeface="Arial"/>
              </a:rPr>
              <a:t>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o: 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e,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ù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te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lit</a:t>
            </a:r>
            <a:r>
              <a:rPr b="0" lang="it-IT" sz="2000" spc="-1" strike="noStrike">
                <a:latin typeface="Arial"/>
              </a:rPr>
              <a:t>à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 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rv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a.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2.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to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is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à 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tu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nf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ip</a:t>
            </a:r>
            <a:r>
              <a:rPr b="0" lang="it-IT" sz="2000" spc="-1" strike="noStrike">
                <a:latin typeface="Arial"/>
              </a:rPr>
              <a:t>ot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le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ai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e, 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o: </a:t>
            </a:r>
            <a:r>
              <a:rPr b="0" lang="it-IT" sz="2000" spc="-1" strike="noStrike">
                <a:latin typeface="Arial"/>
              </a:rPr>
              <a:t>tu</a:t>
            </a:r>
            <a:r>
              <a:rPr b="0" lang="it-IT" sz="2000" spc="-1" strike="noStrike">
                <a:latin typeface="Arial"/>
              </a:rPr>
              <a:t>tti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4,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(k</a:t>
            </a:r>
            <a:r>
              <a:rPr b="0" lang="it-IT" sz="2000" spc="-1" strike="noStrike">
                <a:latin typeface="Arial"/>
              </a:rPr>
              <a:t>)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δ</a:t>
            </a:r>
            <a:r>
              <a:rPr b="0" lang="it-IT" sz="2000" spc="-1" strike="noStrike">
                <a:latin typeface="Arial"/>
              </a:rPr>
              <a:t>k,</a:t>
            </a:r>
            <a:r>
              <a:rPr b="0" lang="it-IT" sz="2000" spc="-1" strike="noStrike">
                <a:latin typeface="Arial"/>
              </a:rPr>
              <a:t>4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=</a:t>
            </a:r>
            <a:r>
              <a:rPr b="0" lang="it-IT" sz="2000" spc="-1" strike="noStrike">
                <a:latin typeface="Arial"/>
              </a:rPr>
              <a:t>0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é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ci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tri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i.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rti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√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ù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</a:t>
            </a:r>
            <a:r>
              <a:rPr b="0" lang="it-IT" sz="2000" spc="-1" strike="noStrike">
                <a:latin typeface="Arial"/>
              </a:rPr>
              <a:t>LDE9.pdf, slide </a:t>
            </a:r>
            <a:r>
              <a:rPr b="0" lang="it-IT" sz="2000" spc="-1" strike="noStrike">
                <a:latin typeface="Arial"/>
              </a:rPr>
              <a:t>23–28. File </a:t>
            </a:r>
            <a:r>
              <a:rPr b="0" lang="it-IT" sz="2000" spc="-1" strike="noStrike">
                <a:latin typeface="Arial"/>
              </a:rPr>
              <a:t>fornito </a:t>
            </a:r>
            <a:r>
              <a:rPr b="0" lang="it-IT" sz="2000" spc="-1" strike="noStrike">
                <a:latin typeface="Arial"/>
              </a:rPr>
              <a:t>dall'utente: </a:t>
            </a:r>
            <a:r>
              <a:rPr b="0" lang="it-IT" sz="2000" spc="-1" strike="noStrike">
                <a:latin typeface="Arial"/>
              </a:rPr>
              <a:t>/home/gloria/Scri</a:t>
            </a:r>
            <a:r>
              <a:rPr b="0" lang="it-IT" sz="2000" spc="-1" strike="noStrike">
                <a:latin typeface="Arial"/>
              </a:rPr>
              <a:t>vania/II_Pod/Life </a:t>
            </a:r>
            <a:r>
              <a:rPr b="0" lang="it-IT" sz="2000" spc="-1" strike="noStrike">
                <a:latin typeface="Arial"/>
              </a:rPr>
              <a:t>data </a:t>
            </a:r>
            <a:r>
              <a:rPr b="0" lang="it-IT" sz="2000" spc="-1" strike="noStrike">
                <a:latin typeface="Arial"/>
              </a:rPr>
              <a:t>epidemiology/LD</a:t>
            </a:r>
            <a:r>
              <a:rPr b="0" lang="it-IT" sz="2000" spc="-1" strike="noStrike">
                <a:latin typeface="Arial"/>
              </a:rPr>
              <a:t>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Modello G(N,p): </a:t>
            </a:r>
            <a:r>
              <a:rPr b="0" lang="it-IT" sz="2000" spc="-1" strike="noStrike">
                <a:latin typeface="Arial"/>
              </a:rPr>
              <a:t>ogni coppia di </a:t>
            </a:r>
            <a:r>
              <a:rPr b="0" lang="it-IT" sz="2000" spc="-1" strike="noStrike">
                <a:latin typeface="Arial"/>
              </a:rPr>
              <a:t>nodi distinti </a:t>
            </a:r>
            <a:r>
              <a:rPr b="0" lang="it-IT" sz="2000" spc="-1" strike="noStrike">
                <a:latin typeface="Arial"/>
              </a:rPr>
              <a:t>riceve un arco </a:t>
            </a:r>
            <a:r>
              <a:rPr b="0" lang="it-IT" sz="2000" spc="-1" strike="noStrike">
                <a:latin typeface="Arial"/>
              </a:rPr>
              <a:t>indipendentemen</a:t>
            </a:r>
            <a:r>
              <a:rPr b="0" lang="it-IT" sz="2000" spc="-1" strike="noStrike">
                <a:latin typeface="Arial"/>
              </a:rPr>
              <a:t>te con probabilità </a:t>
            </a:r>
            <a:r>
              <a:rPr b="0" lang="it-IT" sz="2000" spc="-1" strike="noStrike">
                <a:latin typeface="Arial"/>
              </a:rPr>
              <a:t>p. Il grado segue </a:t>
            </a:r>
            <a:r>
              <a:rPr b="0" lang="it-IT" sz="2000" spc="-1" strike="noStrike">
                <a:latin typeface="Arial"/>
              </a:rPr>
              <a:t>una binomiale </a:t>
            </a:r>
            <a:r>
              <a:rPr b="0" lang="it-IT" sz="2000" spc="-1" strike="noStrike">
                <a:latin typeface="Arial"/>
              </a:rPr>
              <a:t>Bin(N-1,p), con </a:t>
            </a:r>
            <a:r>
              <a:rPr b="0" lang="it-IT" sz="2000" spc="-1" strike="noStrike">
                <a:latin typeface="Arial"/>
              </a:rPr>
              <a:t>media p(N-1) e </a:t>
            </a:r>
            <a:r>
              <a:rPr b="0" lang="it-IT" sz="2000" spc="-1" strike="noStrike">
                <a:latin typeface="Arial"/>
              </a:rPr>
              <a:t>varianza p(1-p)</a:t>
            </a:r>
            <a:r>
              <a:rPr b="0" lang="it-IT" sz="2000" spc="-1" strike="noStrike">
                <a:latin typeface="Arial"/>
              </a:rPr>
              <a:t>(N-1). Per N </a:t>
            </a:r>
            <a:r>
              <a:rPr b="0" lang="it-IT" sz="2000" spc="-1" strike="noStrike">
                <a:latin typeface="Arial"/>
              </a:rPr>
              <a:t>grande e p </a:t>
            </a:r>
            <a:r>
              <a:rPr b="0" lang="it-IT" sz="2000" spc="-1" strike="noStrike">
                <a:latin typeface="Arial"/>
              </a:rPr>
              <a:t>piccolo a media </a:t>
            </a:r>
            <a:r>
              <a:rPr b="0" lang="it-IT" sz="2000" spc="-1" strike="noStrike">
                <a:latin typeface="Arial"/>
              </a:rPr>
              <a:t>finita si </a:t>
            </a:r>
            <a:r>
              <a:rPr b="0" lang="it-IT" sz="2000" spc="-1" strike="noStrike">
                <a:latin typeface="Arial"/>
              </a:rPr>
              <a:t>approssima con </a:t>
            </a:r>
            <a:r>
              <a:rPr b="0" lang="it-IT" sz="2000" spc="-1" strike="noStrike">
                <a:latin typeface="Arial"/>
              </a:rPr>
              <a:t>una Poisson di </a:t>
            </a:r>
            <a:r>
              <a:rPr b="0" lang="it-IT" sz="2000" spc="-1" strike="noStrike">
                <a:latin typeface="Arial"/>
              </a:rPr>
              <a:t>parametro λ≈p(N-</a:t>
            </a:r>
            <a:r>
              <a:rPr b="0" lang="it-IT" sz="2000" spc="-1" strike="noStrike">
                <a:latin typeface="Arial"/>
              </a:rPr>
              <a:t>1). Il clustering </a:t>
            </a:r>
            <a:r>
              <a:rPr b="0" lang="it-IT" sz="2000" spc="-1" strike="noStrike">
                <a:latin typeface="Arial"/>
              </a:rPr>
              <a:t>locale atteso </a:t>
            </a:r>
            <a:r>
              <a:rPr b="0" lang="it-IT" sz="2000" spc="-1" strike="noStrike">
                <a:latin typeface="Arial"/>
              </a:rPr>
              <a:t>condizionato ad </a:t>
            </a:r>
            <a:r>
              <a:rPr b="0" lang="it-IT" sz="2000" spc="-1" strike="noStrike">
                <a:latin typeface="Arial"/>
              </a:rPr>
              <a:t>avere almeno </a:t>
            </a:r>
            <a:r>
              <a:rPr b="0" lang="it-IT" sz="2000" spc="-1" strike="noStrike">
                <a:latin typeface="Arial"/>
              </a:rPr>
              <a:t>due vicini è p. </a:t>
            </a:r>
            <a:r>
              <a:rPr b="0" lang="it-IT" sz="2000" spc="-1" strike="noStrike">
                <a:latin typeface="Arial"/>
              </a:rPr>
              <a:t>Nei grafi sparsi, </a:t>
            </a:r>
            <a:r>
              <a:rPr b="0" lang="it-IT" sz="2000" spc="-1" strike="noStrike">
                <a:latin typeface="Arial"/>
              </a:rPr>
              <a:t>includere C=0 </a:t>
            </a:r>
            <a:r>
              <a:rPr b="0" lang="it-IT" sz="2000" spc="-1" strike="noStrike">
                <a:latin typeface="Arial"/>
              </a:rPr>
              <a:t>per gradi 0 e 1 </a:t>
            </a:r>
            <a:r>
              <a:rPr b="0" lang="it-IT" sz="2000" spc="-1" strike="noStrike">
                <a:latin typeface="Arial"/>
              </a:rPr>
              <a:t>può ridurre la </a:t>
            </a:r>
            <a:r>
              <a:rPr b="0" lang="it-IT" sz="2000" spc="-1" strike="noStrike">
                <a:latin typeface="Arial"/>
              </a:rPr>
              <a:t>media rispetto a </a:t>
            </a:r>
            <a:r>
              <a:rPr b="0" lang="it-IT" sz="2000" spc="-1" strike="noStrike">
                <a:latin typeface="Arial"/>
              </a:rPr>
              <a:t>p. Le distanze </a:t>
            </a:r>
            <a:r>
              <a:rPr b="0" lang="it-IT" sz="2000" spc="-1" strike="noStrike">
                <a:latin typeface="Arial"/>
              </a:rPr>
              <a:t>tipiche nella </a:t>
            </a:r>
            <a:r>
              <a:rPr b="0" lang="it-IT" sz="2000" spc="-1" strike="noStrike">
                <a:latin typeface="Arial"/>
              </a:rPr>
              <a:t>componente </a:t>
            </a:r>
            <a:r>
              <a:rPr b="0" lang="it-IT" sz="2000" spc="-1" strike="noStrike">
                <a:latin typeface="Arial"/>
              </a:rPr>
              <a:t>gigante, lontano </a:t>
            </a:r>
            <a:r>
              <a:rPr b="0" lang="it-IT" sz="2000" spc="-1" strike="noStrike">
                <a:latin typeface="Arial"/>
              </a:rPr>
              <a:t>dalla soglia </a:t>
            </a:r>
            <a:r>
              <a:rPr b="0" lang="it-IT" sz="2000" spc="-1" strike="noStrike">
                <a:latin typeface="Arial"/>
              </a:rPr>
              <a:t>critica, crescono </a:t>
            </a:r>
            <a:r>
              <a:rPr b="0" lang="it-IT" sz="2000" spc="-1" strike="noStrike">
                <a:latin typeface="Arial"/>
              </a:rPr>
              <a:t>circa come log </a:t>
            </a:r>
            <a:r>
              <a:rPr b="0" lang="it-IT" sz="2000" spc="-1" strike="noStrike">
                <a:latin typeface="Arial"/>
              </a:rPr>
              <a:t>N/log ⟨k⟩. G(N,p) </a:t>
            </a:r>
            <a:r>
              <a:rPr b="0" lang="it-IT" sz="2000" spc="-1" strike="noStrike">
                <a:latin typeface="Arial"/>
              </a:rPr>
              <a:t>non è </a:t>
            </a:r>
            <a:r>
              <a:rPr b="0" lang="it-IT" sz="2000" spc="-1" strike="noStrike">
                <a:latin typeface="Arial"/>
              </a:rPr>
              <a:t>necessariamente </a:t>
            </a:r>
            <a:r>
              <a:rPr b="0" lang="it-IT" sz="2000" spc="-1" strike="noStrike">
                <a:latin typeface="Arial"/>
              </a:rPr>
              <a:t>connesso. Fonte </a:t>
            </a:r>
            <a:r>
              <a:rPr b="0" lang="it-IT" sz="2000" spc="-1" strike="noStrike">
                <a:latin typeface="Arial"/>
              </a:rPr>
              <a:t>della traccia: </a:t>
            </a:r>
            <a:r>
              <a:rPr b="0" lang="it-IT" sz="2000" spc="-1" strike="noStrike">
                <a:latin typeface="Arial"/>
              </a:rPr>
              <a:t>Erdős e Rényi, </a:t>
            </a:r>
            <a:r>
              <a:rPr b="0" lang="it-IT" sz="2000" spc="-1" strike="noStrike">
                <a:latin typeface="Arial"/>
              </a:rPr>
              <a:t>Publicationes </a:t>
            </a:r>
            <a:r>
              <a:rPr b="0" lang="it-IT" sz="2000" spc="-1" strike="noStrike">
                <a:latin typeface="Arial"/>
              </a:rPr>
              <a:t>Mathematicae 6, </a:t>
            </a:r>
            <a:r>
              <a:rPr b="0" lang="it-IT" sz="2000" spc="-1" strike="noStrike">
                <a:latin typeface="Arial"/>
              </a:rPr>
              <a:t>290–297 (1959).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7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9.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Mo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ts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z: 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in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ui 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k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le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lit</a:t>
            </a:r>
            <a:r>
              <a:rPr b="0" lang="it-IT" sz="2000" spc="-1" strike="noStrike">
                <a:latin typeface="Arial"/>
              </a:rPr>
              <a:t>à </a:t>
            </a:r>
            <a:r>
              <a:rPr b="0" lang="it-IT" sz="2000" spc="-1" strike="noStrike">
                <a:latin typeface="Arial"/>
              </a:rPr>
              <a:t>β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ot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ia</a:t>
            </a:r>
            <a:r>
              <a:rPr b="0" lang="it-IT" sz="2000" spc="-1" strike="noStrike">
                <a:latin typeface="Arial"/>
              </a:rPr>
              <a:t>to</a:t>
            </a:r>
            <a:r>
              <a:rPr b="0" lang="it-IT" sz="2000" spc="-1" strike="noStrike">
                <a:latin typeface="Arial"/>
              </a:rPr>
              <a:t>ie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ò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cl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 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β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lit</a:t>
            </a:r>
            <a:r>
              <a:rPr b="0" lang="it-IT" sz="2000" spc="-1" strike="noStrike">
                <a:latin typeface="Arial"/>
              </a:rPr>
              <a:t>à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ő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é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yi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bl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L.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β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iz</a:t>
            </a:r>
            <a:r>
              <a:rPr b="0" lang="it-IT" sz="2000" spc="-1" strike="noStrike">
                <a:latin typeface="Arial"/>
              </a:rPr>
              <a:t>ia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tri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rif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vi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: </a:t>
            </a:r>
            <a:r>
              <a:rPr b="0" lang="it-IT" sz="2000" spc="-1" strike="noStrike">
                <a:latin typeface="Arial"/>
              </a:rPr>
              <a:t>rit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in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9. </a:t>
            </a:r>
            <a:r>
              <a:rPr b="0" lang="it-IT" sz="2000" spc="-1" strike="noStrike">
                <a:latin typeface="Arial"/>
              </a:rPr>
              <a:t>F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ts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z,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3, 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2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8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ht</a:t>
            </a:r>
            <a:r>
              <a:rPr b="0" lang="it-IT" sz="2000" spc="-1" strike="noStrike">
                <a:latin typeface="Arial"/>
              </a:rPr>
              <a:t>tp</a:t>
            </a:r>
            <a:r>
              <a:rPr b="0" lang="it-IT" sz="2000" spc="-1" strike="noStrike">
                <a:latin typeface="Arial"/>
              </a:rPr>
              <a:t>s:</a:t>
            </a:r>
            <a:r>
              <a:rPr b="0" lang="it-IT" sz="2000" spc="-1" strike="noStrike">
                <a:latin typeface="Arial"/>
              </a:rPr>
              <a:t>//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oi</a:t>
            </a:r>
            <a:r>
              <a:rPr b="0" lang="it-IT" sz="2000" spc="-1" strike="noStrike">
                <a:latin typeface="Arial"/>
              </a:rPr>
              <a:t>.o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g/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0.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8/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8 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I: </a:t>
            </a:r>
            <a:r>
              <a:rPr b="0" lang="it-IT" sz="2000" spc="-1" strike="noStrike">
                <a:latin typeface="Arial"/>
              </a:rPr>
              <a:t>ht</a:t>
            </a:r>
            <a:r>
              <a:rPr b="0" lang="it-IT" sz="2000" spc="-1" strike="noStrike">
                <a:latin typeface="Arial"/>
              </a:rPr>
              <a:t>tp</a:t>
            </a:r>
            <a:r>
              <a:rPr b="0" lang="it-IT" sz="2000" spc="-1" strike="noStrike">
                <a:latin typeface="Arial"/>
              </a:rPr>
              <a:t>s:</a:t>
            </a:r>
            <a:r>
              <a:rPr b="0" lang="it-IT" sz="2000" spc="-1" strike="noStrike">
                <a:latin typeface="Arial"/>
              </a:rPr>
              <a:t>//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rk</a:t>
            </a:r>
            <a:r>
              <a:rPr b="0" lang="it-IT" sz="2000" spc="-1" strike="noStrike">
                <a:latin typeface="Arial"/>
              </a:rPr>
              <a:t>x.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g/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n/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bl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ef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rk</a:t>
            </a:r>
            <a:r>
              <a:rPr b="0" lang="it-IT" sz="2000" spc="-1" strike="noStrike">
                <a:latin typeface="Arial"/>
              </a:rPr>
              <a:t>x.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rs</a:t>
            </a:r>
            <a:r>
              <a:rPr b="0" lang="it-IT" sz="2000" spc="-1" strike="noStrike">
                <a:latin typeface="Arial"/>
              </a:rPr>
              <a:t>.r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s.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ts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h.</a:t>
            </a:r>
            <a:r>
              <a:rPr b="0" lang="it-IT" sz="2000" spc="-1" strike="noStrike">
                <a:latin typeface="Arial"/>
              </a:rPr>
              <a:t>ht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l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sl</a:t>
            </a:r>
            <a:r>
              <a:rPr b="0" lang="it-IT" sz="2000" spc="-1" strike="noStrike">
                <a:latin typeface="Arial"/>
              </a:rPr>
              <a:t>id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–</a:t>
            </a:r>
            <a:r>
              <a:rPr b="0" lang="it-IT" sz="2000" spc="-1" strike="noStrike">
                <a:latin typeface="Arial"/>
              </a:rPr>
              <a:t>3</a:t>
            </a:r>
            <a:r>
              <a:rPr b="0" lang="it-IT" sz="2000" spc="-1" strike="noStrike">
                <a:latin typeface="Arial"/>
              </a:rPr>
              <a:t>4. </a:t>
            </a:r>
            <a:r>
              <a:rPr b="0" lang="it-IT" sz="2000" spc="-1" strike="noStrike">
                <a:latin typeface="Arial"/>
              </a:rPr>
              <a:t>Fi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fo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ut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/h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e/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cr</a:t>
            </a:r>
            <a:r>
              <a:rPr b="0" lang="it-IT" sz="2000" spc="-1" strike="noStrike">
                <a:latin typeface="Arial"/>
              </a:rPr>
              <a:t>iv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a/</a:t>
            </a:r>
            <a:r>
              <a:rPr b="0" lang="it-IT" sz="2000" spc="-1" strike="noStrike">
                <a:latin typeface="Arial"/>
              </a:rPr>
              <a:t>II</a:t>
            </a:r>
            <a:r>
              <a:rPr b="0" lang="it-IT" sz="2000" spc="-1" strike="noStrike">
                <a:latin typeface="Arial"/>
              </a:rPr>
              <a:t>_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d/</a:t>
            </a:r>
            <a:r>
              <a:rPr b="0" lang="it-IT" sz="2000" spc="-1" strike="noStrike">
                <a:latin typeface="Arial"/>
              </a:rPr>
              <a:t>Li</a:t>
            </a:r>
            <a:r>
              <a:rPr b="0" lang="it-IT" sz="2000" spc="-1" strike="noStrike">
                <a:latin typeface="Arial"/>
              </a:rPr>
              <a:t>fe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y/</a:t>
            </a:r>
            <a:r>
              <a:rPr b="0" lang="it-IT" sz="2000" spc="-1" strike="noStrike">
                <a:latin typeface="Arial"/>
              </a:rPr>
              <a:t>L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9.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ill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al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rk</a:t>
            </a:r>
            <a:r>
              <a:rPr b="0" lang="it-IT" sz="2000" spc="-1" strike="noStrike">
                <a:latin typeface="Arial"/>
              </a:rPr>
              <a:t>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rt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le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pi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lit</a:t>
            </a:r>
            <a:r>
              <a:rPr b="0" lang="it-IT" sz="2000" spc="-1" strike="noStrike">
                <a:latin typeface="Arial"/>
              </a:rPr>
              <a:t>à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zi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b </a:t>
            </a:r>
            <a:r>
              <a:rPr b="0" lang="it-IT" sz="2000" spc="-1" strike="noStrike">
                <a:latin typeface="Arial"/>
              </a:rPr>
              <a:t>è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to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q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lo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tri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.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li 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b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ia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fl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si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di</a:t>
            </a:r>
            <a:r>
              <a:rPr b="0" lang="it-IT" sz="2000" spc="-1" strike="noStrike">
                <a:latin typeface="Arial"/>
              </a:rPr>
              <a:t>ff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e. </a:t>
            </a:r>
            <a:r>
              <a:rPr b="0" lang="it-IT" sz="2000" spc="-1" strike="noStrike">
                <a:latin typeface="Arial"/>
              </a:rPr>
              <a:t>Il 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ol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is</a:t>
            </a:r>
            <a:r>
              <a:rPr b="0" lang="it-IT" sz="2000" spc="-1" strike="noStrike">
                <a:latin typeface="Arial"/>
              </a:rPr>
              <a:t>si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e: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te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ti,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st</a:t>
            </a:r>
            <a:r>
              <a:rPr b="0" lang="it-IT" sz="2000" spc="-1" strike="noStrike">
                <a:latin typeface="Arial"/>
              </a:rPr>
              <a:t>ic</a:t>
            </a:r>
            <a:r>
              <a:rPr b="0" lang="it-IT" sz="2000" spc="-1" strike="noStrike">
                <a:latin typeface="Arial"/>
              </a:rPr>
              <a:t>h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l'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fe</a:t>
            </a:r>
            <a:r>
              <a:rPr b="0" lang="it-IT" sz="2000" spc="-1" strike="noStrike">
                <a:latin typeface="Arial"/>
              </a:rPr>
              <a:t>tti</a:t>
            </a:r>
            <a:r>
              <a:rPr b="0" lang="it-IT" sz="2000" spc="-1" strike="noStrike">
                <a:latin typeface="Arial"/>
              </a:rPr>
              <a:t>v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le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gl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rc</a:t>
            </a:r>
            <a:r>
              <a:rPr b="0" lang="it-IT" sz="2000" spc="-1" strike="noStrike">
                <a:latin typeface="Arial"/>
              </a:rPr>
              <a:t>hi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bi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el </a:t>
            </a:r>
            <a:r>
              <a:rPr b="0" lang="it-IT" sz="2000" spc="-1" strike="noStrike">
                <a:latin typeface="Arial"/>
              </a:rPr>
              <a:t>te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o. 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if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ri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i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el</a:t>
            </a:r>
            <a:r>
              <a:rPr b="0" lang="it-IT" sz="2000" spc="-1" strike="noStrike">
                <a:latin typeface="Arial"/>
              </a:rPr>
              <a:t>la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ci</a:t>
            </a:r>
            <a:r>
              <a:rPr b="0" lang="it-IT" sz="2000" spc="-1" strike="noStrike">
                <a:latin typeface="Arial"/>
              </a:rPr>
              <a:t>a: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rr</a:t>
            </a:r>
            <a:r>
              <a:rPr b="0" lang="it-IT" sz="2000" spc="-1" strike="noStrike">
                <a:latin typeface="Arial"/>
              </a:rPr>
              <a:t>at </a:t>
            </a:r>
            <a:r>
              <a:rPr b="0" lang="it-IT" sz="2000" spc="-1" strike="noStrike">
                <a:latin typeface="Arial"/>
              </a:rPr>
              <a:t>et 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.,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).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n </a:t>
            </a:r>
            <a:r>
              <a:rPr b="0" lang="it-IT" sz="2000" spc="-1" strike="noStrike">
                <a:latin typeface="Arial"/>
              </a:rPr>
              <a:t>et </a:t>
            </a:r>
            <a:r>
              <a:rPr b="0" lang="it-IT" sz="2000" spc="-1" strike="noStrike">
                <a:latin typeface="Arial"/>
              </a:rPr>
              <a:t>al</a:t>
            </a:r>
            <a:r>
              <a:rPr b="0" lang="it-IT" sz="2000" spc="-1" strike="noStrike">
                <a:latin typeface="Arial"/>
              </a:rPr>
              <a:t>., 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et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rk</a:t>
            </a:r>
            <a:r>
              <a:rPr b="0" lang="it-IT" sz="2000" spc="-1" strike="noStrike">
                <a:latin typeface="Arial"/>
              </a:rPr>
              <a:t>s 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d </a:t>
            </a:r>
            <a:r>
              <a:rPr b="0" lang="it-IT" sz="2000" spc="-1" strike="noStrike">
                <a:latin typeface="Arial"/>
              </a:rPr>
              <a:t>th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pi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lo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y </a:t>
            </a:r>
            <a:r>
              <a:rPr b="0" lang="it-IT" sz="2000" spc="-1" strike="noStrike">
                <a:latin typeface="Arial"/>
              </a:rPr>
              <a:t>of </a:t>
            </a:r>
            <a:r>
              <a:rPr b="0" lang="it-IT" sz="2000" spc="-1" strike="noStrike">
                <a:latin typeface="Arial"/>
              </a:rPr>
              <a:t>In</a:t>
            </a:r>
            <a:r>
              <a:rPr b="0" lang="it-IT" sz="2000" spc="-1" strike="noStrike">
                <a:latin typeface="Arial"/>
              </a:rPr>
              <a:t>fe</a:t>
            </a:r>
            <a:r>
              <a:rPr b="0" lang="it-IT" sz="2000" spc="-1" strike="noStrike">
                <a:latin typeface="Arial"/>
              </a:rPr>
              <a:t>ct</a:t>
            </a:r>
            <a:r>
              <a:rPr b="0" lang="it-IT" sz="2000" spc="-1" strike="noStrike">
                <a:latin typeface="Arial"/>
              </a:rPr>
              <a:t>io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is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oi</a:t>
            </a:r>
            <a:r>
              <a:rPr b="0" lang="it-IT" sz="2000" spc="-1" strike="noStrike">
                <a:latin typeface="Arial"/>
              </a:rPr>
              <a:t>:1</a:t>
            </a:r>
            <a:r>
              <a:rPr b="0" lang="it-IT" sz="2000" spc="-1" strike="noStrike">
                <a:latin typeface="Arial"/>
              </a:rPr>
              <a:t>0.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5</a:t>
            </a:r>
            <a:r>
              <a:rPr b="0" lang="it-IT" sz="2000" spc="-1" strike="noStrike">
                <a:latin typeface="Arial"/>
              </a:rPr>
              <a:t>5/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1/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8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9.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r 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vi</a:t>
            </a:r>
            <a:r>
              <a:rPr b="0" lang="it-IT" sz="2000" spc="-1" strike="noStrike">
                <a:latin typeface="Arial"/>
              </a:rPr>
              <a:t>ta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tr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ta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ni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a</a:t>
            </a:r>
            <a:r>
              <a:rPr b="0" lang="it-IT" sz="2000" spc="-1" strike="noStrike">
                <a:latin typeface="Arial"/>
              </a:rPr>
              <a:t>nt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a </a:t>
            </a:r>
            <a:r>
              <a:rPr b="0" lang="it-IT" sz="2000" spc="-1" strike="noStrike">
                <a:latin typeface="Arial"/>
              </a:rPr>
              <a:t>le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g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di </a:t>
            </a:r>
            <a:r>
              <a:rPr b="0" lang="it-IT" sz="2000" spc="-1" strike="noStrike">
                <a:latin typeface="Arial"/>
              </a:rPr>
              <a:t>p</a:t>
            </a:r>
            <a:r>
              <a:rPr b="0" lang="it-IT" sz="2000" spc="-1" strike="noStrike">
                <a:latin typeface="Arial"/>
              </a:rPr>
              <a:t>ot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n</a:t>
            </a:r>
            <a:r>
              <a:rPr b="0" lang="it-IT" sz="2000" spc="-1" strike="noStrike">
                <a:latin typeface="Arial"/>
              </a:rPr>
              <a:t>z</a:t>
            </a:r>
            <a:r>
              <a:rPr b="0" lang="it-IT" sz="2000" spc="-1" strike="noStrike">
                <a:latin typeface="Arial"/>
              </a:rPr>
              <a:t>a: </a:t>
            </a:r>
            <a:r>
              <a:rPr b="0" lang="it-IT" sz="2000" spc="-1" strike="noStrike">
                <a:latin typeface="Arial"/>
              </a:rPr>
              <a:t>B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oi</a:t>
            </a:r>
            <a:r>
              <a:rPr b="0" lang="it-IT" sz="2000" spc="-1" strike="noStrike">
                <a:latin typeface="Arial"/>
              </a:rPr>
              <a:t>d</a:t>
            </a:r>
            <a:r>
              <a:rPr b="0" lang="it-IT" sz="2000" spc="-1" strike="noStrike">
                <a:latin typeface="Arial"/>
              </a:rPr>
              <a:t>o </a:t>
            </a:r>
            <a:r>
              <a:rPr b="0" lang="it-IT" sz="2000" spc="-1" strike="noStrike">
                <a:latin typeface="Arial"/>
              </a:rPr>
              <a:t>e 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la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et </a:t>
            </a:r>
            <a:r>
              <a:rPr b="0" lang="it-IT" sz="2000" spc="-1" strike="noStrike">
                <a:latin typeface="Arial"/>
              </a:rPr>
              <a:t>(</a:t>
            </a:r>
            <a:r>
              <a:rPr b="0" lang="it-IT" sz="2000" spc="-1" strike="noStrike">
                <a:latin typeface="Arial"/>
              </a:rPr>
              <a:t>2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), </a:t>
            </a:r>
            <a:r>
              <a:rPr b="0" lang="it-IT" sz="2000" spc="-1" strike="noStrike">
                <a:latin typeface="Arial"/>
              </a:rPr>
              <a:t>ht</a:t>
            </a:r>
            <a:r>
              <a:rPr b="0" lang="it-IT" sz="2000" spc="-1" strike="noStrike">
                <a:latin typeface="Arial"/>
              </a:rPr>
              <a:t>tp</a:t>
            </a:r>
            <a:r>
              <a:rPr b="0" lang="it-IT" sz="2000" spc="-1" strike="noStrike">
                <a:latin typeface="Arial"/>
              </a:rPr>
              <a:t>s:</a:t>
            </a:r>
            <a:r>
              <a:rPr b="0" lang="it-IT" sz="2000" spc="-1" strike="noStrike">
                <a:latin typeface="Arial"/>
              </a:rPr>
              <a:t>//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w</a:t>
            </a:r>
            <a:r>
              <a:rPr b="0" lang="it-IT" sz="2000" spc="-1" strike="noStrike">
                <a:latin typeface="Arial"/>
              </a:rPr>
              <a:t>.n</a:t>
            </a:r>
            <a:r>
              <a:rPr b="0" lang="it-IT" sz="2000" spc="-1" strike="noStrike">
                <a:latin typeface="Arial"/>
              </a:rPr>
              <a:t>at</a:t>
            </a:r>
            <a:r>
              <a:rPr b="0" lang="it-IT" sz="2000" spc="-1" strike="noStrike">
                <a:latin typeface="Arial"/>
              </a:rPr>
              <a:t>u</a:t>
            </a:r>
            <a:r>
              <a:rPr b="0" lang="it-IT" sz="2000" spc="-1" strike="noStrike">
                <a:latin typeface="Arial"/>
              </a:rPr>
              <a:t>r</a:t>
            </a:r>
            <a:r>
              <a:rPr b="0" lang="it-IT" sz="2000" spc="-1" strike="noStrike">
                <a:latin typeface="Arial"/>
              </a:rPr>
              <a:t>e.</a:t>
            </a:r>
            <a:r>
              <a:rPr b="0" lang="it-IT" sz="2000" spc="-1" strike="noStrike">
                <a:latin typeface="Arial"/>
              </a:rPr>
              <a:t>c</a:t>
            </a:r>
            <a:r>
              <a:rPr b="0" lang="it-IT" sz="2000" spc="-1" strike="noStrike">
                <a:latin typeface="Arial"/>
              </a:rPr>
              <a:t>o</a:t>
            </a:r>
            <a:r>
              <a:rPr b="0" lang="it-IT" sz="2000" spc="-1" strike="noStrike">
                <a:latin typeface="Arial"/>
              </a:rPr>
              <a:t>m</a:t>
            </a:r>
            <a:r>
              <a:rPr b="0" lang="it-IT" sz="2000" spc="-1" strike="noStrike">
                <a:latin typeface="Arial"/>
              </a:rPr>
              <a:t>/a</a:t>
            </a:r>
            <a:r>
              <a:rPr b="0" lang="it-IT" sz="2000" spc="-1" strike="noStrike">
                <a:latin typeface="Arial"/>
              </a:rPr>
              <a:t>rti</a:t>
            </a:r>
            <a:r>
              <a:rPr b="0" lang="it-IT" sz="2000" spc="-1" strike="noStrike">
                <a:latin typeface="Arial"/>
              </a:rPr>
              <a:t>cl</a:t>
            </a:r>
            <a:r>
              <a:rPr b="0" lang="it-IT" sz="2000" spc="-1" strike="noStrike">
                <a:latin typeface="Arial"/>
              </a:rPr>
              <a:t>e</a:t>
            </a:r>
            <a:r>
              <a:rPr b="0" lang="it-IT" sz="2000" spc="-1" strike="noStrike">
                <a:latin typeface="Arial"/>
              </a:rPr>
              <a:t>s/</a:t>
            </a:r>
            <a:r>
              <a:rPr b="0" lang="it-IT" sz="2000" spc="-1" strike="noStrike">
                <a:latin typeface="Arial"/>
              </a:rPr>
              <a:t>s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6</a:t>
            </a:r>
            <a:r>
              <a:rPr b="0" lang="it-IT" sz="2000" spc="-1" strike="noStrike">
                <a:latin typeface="Arial"/>
              </a:rPr>
              <a:t>7</a:t>
            </a:r>
            <a:r>
              <a:rPr b="0" lang="it-IT" sz="2000" spc="-1" strike="noStrike">
                <a:latin typeface="Arial"/>
              </a:rPr>
              <a:t>-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1</a:t>
            </a:r>
            <a:r>
              <a:rPr b="0" lang="it-IT" sz="2000" spc="-1" strike="noStrike">
                <a:latin typeface="Arial"/>
              </a:rPr>
              <a:t>9</a:t>
            </a:r>
            <a:r>
              <a:rPr b="0" lang="it-IT" sz="2000" spc="-1" strike="noStrike">
                <a:latin typeface="Arial"/>
              </a:rPr>
              <a:t>-</a:t>
            </a:r>
            <a:r>
              <a:rPr b="0" lang="it-IT" sz="2000" spc="-1" strike="noStrike">
                <a:latin typeface="Arial"/>
              </a:rPr>
              <a:t>0</a:t>
            </a:r>
            <a:r>
              <a:rPr b="0" lang="it-IT" sz="2000" spc="-1" strike="noStrike">
                <a:latin typeface="Arial"/>
              </a:rPr>
              <a:t>8</a:t>
            </a:r>
            <a:r>
              <a:rPr b="0" lang="it-IT" sz="2000" spc="-1" strike="noStrike">
                <a:latin typeface="Arial"/>
              </a:rPr>
              <a:t>7</a:t>
            </a:r>
            <a:r>
              <a:rPr b="0" lang="it-IT" sz="2000" spc="-1" strike="noStrike">
                <a:latin typeface="Arial"/>
              </a:rPr>
              <a:t>4</a:t>
            </a:r>
            <a:r>
              <a:rPr b="0" lang="it-IT" sz="2000" spc="-1" strike="noStrike">
                <a:latin typeface="Arial"/>
              </a:rPr>
              <a:t>6</a:t>
            </a:r>
            <a:r>
              <a:rPr b="0" lang="it-IT" sz="2000" spc="-1" strike="noStrike">
                <a:latin typeface="Arial"/>
              </a:rPr>
              <a:t>-</a:t>
            </a:r>
            <a:r>
              <a:rPr b="0" lang="it-IT" sz="2000" spc="-1" strike="noStrike">
                <a:latin typeface="Arial"/>
              </a:rPr>
              <a:t>5 </a:t>
            </a:r>
            <a:r>
              <a:rPr b="0" lang="it-IT" sz="2000" spc="-1" strike="noStrike">
                <a:latin typeface="Arial"/>
              </a:rPr>
              <a:t>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33–35. File fornito dall'utente: </a:t>
            </a:r>
            <a:r>
              <a:rPr b="0" lang="it-IT" sz="2000" spc="-1" strike="noStrike">
                <a:latin typeface="Arial"/>
              </a:rPr>
              <a:t>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Una legge di potenza ha P(k) proporzionale a k^(-γ), almeno sopra un grado </a:t>
            </a:r>
            <a:r>
              <a:rPr b="0" lang="it-IT" sz="2000" spc="-1" strike="noStrike">
                <a:latin typeface="Arial"/>
              </a:rPr>
              <a:t>minimo kmin. Il termine scale-free descrive questa forma della </a:t>
            </a:r>
            <a:r>
              <a:rPr b="0" lang="it-IT" sz="2000" spc="-1" strike="noStrike">
                <a:latin typeface="Arial"/>
              </a:rPr>
              <a:t>distribuzione, non una varianza necessariamente infinita. Nel modello </a:t>
            </a:r>
            <a:r>
              <a:rPr b="0" lang="it-IT" sz="2000" spc="-1" strike="noStrike">
                <a:latin typeface="Arial"/>
              </a:rPr>
              <a:t>continuo idealizzato senza limite superiore, con γ&gt;1, C0=(γ-1)kmin^(γ-1). Il </a:t>
            </a:r>
            <a:r>
              <a:rPr b="0" lang="it-IT" sz="2000" spc="-1" strike="noStrike">
                <a:latin typeface="Arial"/>
              </a:rPr>
              <a:t>momento di ordine r è finito soltanto se γ&gt;r+1. Per 1&lt;γ≤2 la media diverge </a:t>
            </a:r>
            <a:r>
              <a:rPr b="0" lang="it-IT" sz="2000" spc="-1" strike="noStrike">
                <a:latin typeface="Arial"/>
              </a:rPr>
              <a:t>(logaritmicamente al valore limite 2). Per 2&lt;γ≤3 la media è finita ma il </a:t>
            </a:r>
            <a:r>
              <a:rPr b="0" lang="it-IT" sz="2000" spc="-1" strike="noStrike">
                <a:latin typeface="Arial"/>
              </a:rPr>
              <a:t>secondo momento diverge (logaritmicamente a 3). La varianza è ⟨k²⟩-⟨k⟩². </a:t>
            </a:r>
            <a:r>
              <a:rPr b="0" lang="it-IT" sz="2000" spc="-1" strike="noStrike">
                <a:latin typeface="Arial"/>
              </a:rPr>
              <a:t>Nelle reti finite tutti questi valori sono finiti e risentono del grado massimo. </a:t>
            </a:r>
            <a:r>
              <a:rPr b="0" lang="it-IT" sz="2000" spc="-1" strike="noStrike">
                <a:latin typeface="Arial"/>
              </a:rPr>
              <a:t>Per alcune famiglie casuali con 2&lt;γ&lt;3, le distanze tipiche possono </a:t>
            </a:r>
            <a:r>
              <a:rPr b="0" lang="it-IT" sz="2000" spc="-1" strike="noStrike">
                <a:latin typeface="Arial"/>
              </a:rPr>
              <a:t>crescere come log log N: proprietà ultra-small-world dipendente dalle </a:t>
            </a:r>
            <a:r>
              <a:rPr b="0" lang="it-IT" sz="2000" spc="-1" strike="noStrike">
                <a:latin typeface="Arial"/>
              </a:rPr>
              <a:t>ipotesi. Nessuna di queste conclusioni segue dalla sola presenza di </a:t>
            </a:r>
            <a:r>
              <a:rPr b="0" lang="it-IT" sz="2000" spc="-1" strike="noStrike">
                <a:latin typeface="Arial"/>
              </a:rPr>
              <a:t>qualche hub. Fonte integrativa: Broido e Clauset (2019), </a:t>
            </a:r>
            <a:r>
              <a:rPr b="0" lang="it-IT" sz="2000" spc="-1" strike="noStrike">
                <a:latin typeface="Arial"/>
              </a:rPr>
              <a:t>https://www.nature.com/articles/s41467-019-08746-5 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36–48. File fornito dall'utente: 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L'algoritmo BA combina crescita e attaccamento preferenziale lineare. Si parte da una rete iniziale connessa, per esempio una clique di m0 nodi (ogni coppia collegata), con m≤m0. Ogni nuovo nodo si collega a m nodi preesistenti distinti, favorendo quelli con grado maggiore. La probabilità è proporzionale a ki: Πi = ki / Σj kj, normalizzata sull'insieme dei candidati ammissibili. I dettagli di campionamento possono variare fra implementazioni: evitare autoarchi e bersagli duplicati. NetworkX usa per default una stella di m+1 nodi, non la clique della traccia; è possibile passare initial_graph. La dimostrazione nelle note della slide 15 usa esplicitamente K4 e m=2. Il grado medio tende a 2m. Nel limite del modello standard, P(k)=2m(m+1)/[k(k+1)(k+2)] per k≥m, dunque coda con esponente γ=3, indipendente da m e m0. A m fissato, il grado massimo cresce nell'ordine di √N e ⟨k²⟩ cresce con N. Per m≥2, le distanze tipiche hanno ordine log N/log log N nel regime asintotico standard; il caso m=1 è un albero e richiede una trattazione distinta. I risultati asintotici non sono valori esatti di una piccola simulazione. Attaccamento preferenziale: vantaggio cumulativo, o effetto Matteo, collegato ai lavori di Simon (1955) e Price (1976). Fonte: Barabási e Albert, Science 286, 509–512 (1999), doi:10.1126/science.286.5439.509. API: https://networkx.org/documentation/stable/reference/generated/networkx.generators.random_graphs.barabasi_albert_graph.html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21–48. File fornito dall'utente: 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Confronto qualitativo nel regime tipico di utilizzo. Il reticolo considerato è quadrato, con primi vicini e bordi periodici. Per ER, gradi attorno alla media e clustering basso si riferiscono al regime sparso; le distanze brevi si intendono nella grande componente connessa sufficientemente sopra la soglia critica. WS descrive il regime con poche scorciatoie e clustering alto. BA produce forte eterogeneità e distanze brevi, ma non riproduce automaticamente l'alto clustering delle reti sociali. In epidemiologia il modello di rete descrive opportunità di contatto e va distinto dal modello di trasmissione. Fonti: LDE9.pdf slide 21–48; riferimenti ER, WS e BA riportati nelle note delle slide 8,9,12.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14 + esempio Python originale. File fornito dall'utente: 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Installazione da terminale: python -m pip install networkx matplotlib. In un notebook si può usare %pip install networkx matplotlib. import carica una libreria, as le assegna un nome breve. G è una variabile che contiene il grafo. Una lista usa parentesi quadre, una tupla tonde; ogni coppia (u,v) rappresenta un arco. Le righe che iniziano con # sono commenti. Graph() crea un grafo non diretto. add_edges_from crea anche i nodi non ancora presenti. add_node(6) aggiungerebbe un nodo isolato. spring_layout decide solo la posizione del disegno, senza cambiare gli archi. seed rende ripetibile il layout. Per un grafo diretto: nx.DiGraph(). Per un peso: G.add_edge(1, 2, weight=3). Il codice completo prosegue nella slide successiva. Fonte: documentazione ufficiale NetworkX, https://networkx.org/documentation/stable/tutorial.html 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Fonte principale: LDE9.pdf, slide 15–18, 23, 29, 36–48 + esempi Python originali. File fornito dall'utente: /home/gloria/Scrivania/II_Pod/Life data epidemiology/LDE9.pdf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Eseguire dopo la slide 14, nella stessa sessione. Il codice restituisce N=5, L=5, grado del nodo 2 pari a 4, densità 0.5 e distanza da 1 a 3 pari a 2. nx.average_clustering(G) restituisce circa 0.4333. nx.is_connected(G) verifica la connessione. Se la rete è disconnessa, per misurare il diametro della componente maggiore: H=G.subgraph(max(nx.connected_components(G),key=len)); nx.diameter(H). I modelli hanno parametri scelti per gradi medi intorno a 4. ER usa p=4/29, WS usa k=4 e probabilità di ricablatura 0.1. BA usa m=2 e un K4 iniziale, coerente con la clique della traccia. seed=7 rende ripetibile ogni generazione, ma non assicura uguaglianza tra algoritmi diversi. Per visualizzare un modello, usare nx.draw(ER, with_labels=True); plt.show(), oppure sostituire ER con WS o BA. Esercizio: confrontare nx.average_clustering(ER), nx.average_clustering(WS), nx.average_clustering(BA). Un singolo piccolo campione non basta per dimostrare una proprietà asintotica.</a:t>
            </a:r>
            <a:endParaRPr b="0" lang="it-IT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it-IT" sz="2000" spc="-1" strike="noStrike">
                <a:latin typeface="Arial"/>
              </a:rPr>
              <a:t>Fonti: https://networkx.org/documentation/stable/tutorial.html ; https://networkx.org/documentation/stable/reference/generators.html ; https://networkx.org/documentation/stable/reference/generated/networkx.generators.random_graphs.barabasi_albert_graph.html ; https://networkx.org/documentation/stable/reference/generated/networkx.generators.random_graphs.watts_strogatz_graph.html 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it-IT" sz="2400" spc="-1" strike="noStrike">
                <a:latin typeface="Times New Roman"/>
              </a:defRPr>
            </a:lvl1pPr>
          </a:lstStyle>
          <a:p>
            <a:endParaRPr b="0" lang="it-IT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87440" y="1711440"/>
            <a:ext cx="877752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877752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428328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985280" y="1711440"/>
            <a:ext cx="428328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87440" y="291600"/>
            <a:ext cx="8777520" cy="56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985280" y="1711440"/>
            <a:ext cx="428328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87440" y="39272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428328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98528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985280" y="39272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98528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87440" y="3927240"/>
            <a:ext cx="877752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877752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87440" y="3927240"/>
            <a:ext cx="877752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985280" y="17114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87440" y="39272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985280" y="3927240"/>
            <a:ext cx="428328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87440" y="17114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455280" y="17114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422760" y="17114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87440" y="39272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455280" y="39272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422760" y="3927240"/>
            <a:ext cx="2826000" cy="202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ptos"/>
              </a:rPr>
              <a:t>Fai clic per modificare il formato del testo del titolo</a:t>
            </a:r>
            <a:endParaRPr b="0" lang="it-IT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752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pc="-1" strike="noStrike">
                <a:solidFill>
                  <a:srgbClr val="000000"/>
                </a:solidFill>
                <a:latin typeface="Aptos"/>
              </a:rPr>
              <a:t>Fai clic per modificare il formato del testo della struttura</a:t>
            </a:r>
            <a:endParaRPr b="0" lang="it-IT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ptos"/>
              </a:rPr>
              <a:t>Secondo livello struttura</a:t>
            </a:r>
            <a:endParaRPr b="0" lang="it-IT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ptos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ptos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ptos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ptos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ptos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3600" spc="-1" strike="noStrike">
                <a:solidFill>
                  <a:srgbClr val="161616"/>
                </a:solidFill>
                <a:latin typeface="Lato"/>
                <a:ea typeface="Lato"/>
              </a:rPr>
              <a:t>Basi di Network</a:t>
            </a:r>
            <a:endParaRPr b="0" lang="it-IT" sz="3600" spc="-1" strike="noStrike"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01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57200" y="1438200"/>
            <a:ext cx="890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2000" spc="-1" strike="noStrike">
                <a:solidFill>
                  <a:srgbClr val="161616"/>
                </a:solidFill>
                <a:latin typeface="Lato"/>
                <a:ea typeface="Lato"/>
              </a:rPr>
              <a:t>Un network è un insieme di nodi interconnessi da collegamenti che scambiano informazioni, risorse o contatti.</a:t>
            </a:r>
            <a:endParaRPr b="1" lang="it-IT" sz="200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57200" y="227664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Nodi (V)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57200" y="265752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Le entità: persone, aeroporti o proteine.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57200" y="340056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Archi (E)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57200" y="378144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Le relazioni: contatti, voli o interazioni.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57200" y="4848120"/>
            <a:ext cx="35240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780" spc="-1" strike="noStrike">
                <a:solidFill>
                  <a:srgbClr val="161616"/>
                </a:solidFill>
                <a:latin typeface="Lato"/>
                <a:ea typeface="Lato"/>
              </a:rPr>
              <a:t>G = (V, E)</a:t>
            </a:r>
            <a:endParaRPr b="0" lang="it-IT" sz="2780" spc="-1" strike="noStrike"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57200" y="5524560"/>
            <a:ext cx="38574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N = numero di nodi</a:t>
            </a:r>
            <a:endParaRPr b="0" lang="it-IT" sz="2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L = numero di archi</a:t>
            </a:r>
            <a:endParaRPr b="0" lang="it-IT" sz="2020" spc="-1" strike="noStrike"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763880" y="4238640"/>
            <a:ext cx="4521600" cy="247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Tipi di rete e densità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02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57200" y="140004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Non diretta / diretta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57200" y="178128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Un contatto reciproco / una relazione con un verso.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57200" y="251460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Non pesata / pesata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57200" y="289548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Conta la presenza del legame / conta anche la sua intensità.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7200" y="3943440"/>
            <a:ext cx="87818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320" spc="-1" strike="noStrike">
                <a:solidFill>
                  <a:srgbClr val="161616"/>
                </a:solidFill>
                <a:latin typeface="Lato"/>
                <a:ea typeface="Lato"/>
              </a:rPr>
              <a:t>Densità = archi presenti / archi possibili</a:t>
            </a:r>
            <a:endParaRPr b="0" lang="it-IT" sz="2320" spc="-1" strike="noStrike"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57200" y="4762440"/>
            <a:ext cx="409536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Non diretta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57200" y="5238720"/>
            <a:ext cx="43812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470" spc="-1" strike="noStrike">
                <a:solidFill>
                  <a:srgbClr val="161616"/>
                </a:solidFill>
                <a:latin typeface="Lato"/>
                <a:ea typeface="Lato"/>
              </a:rPr>
              <a:t>d = 2L / [N(N − 1)]</a:t>
            </a:r>
            <a:endParaRPr b="0" lang="it-IT" sz="2470" spc="-1" strike="noStrike"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257800" y="4762440"/>
            <a:ext cx="400032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Diretta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257800" y="5238720"/>
            <a:ext cx="4095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470" spc="-1" strike="noStrike">
                <a:solidFill>
                  <a:srgbClr val="161616"/>
                </a:solidFill>
                <a:latin typeface="Lato"/>
                <a:ea typeface="Lato"/>
              </a:rPr>
              <a:t>d = L / [N(N − 1)]</a:t>
            </a:r>
            <a:endParaRPr b="0" lang="it-IT" sz="247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57200" y="6058080"/>
            <a:ext cx="885780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800" spc="-1" strike="noStrike">
                <a:solidFill>
                  <a:srgbClr val="161616"/>
                </a:solidFill>
                <a:latin typeface="Lato"/>
                <a:ea typeface="Lato"/>
              </a:rPr>
              <a:t>Esempio: 5 nodi e 5 archi non diretti danno d = 0,50.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800" spc="-1" strike="noStrike">
                <a:solidFill>
                  <a:srgbClr val="161616"/>
                </a:solidFill>
                <a:latin typeface="Lato"/>
                <a:ea typeface="Lato"/>
              </a:rPr>
              <a:t>Una rete sparsa ha pochi archi rispetto a quelli possibili.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Come rappresentare una rete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03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7200" y="1409760"/>
            <a:ext cx="88578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Matrice di adiacenza: 1 se esiste un arco, 0 altrimenti.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57200" y="2143080"/>
            <a:ext cx="8838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In una rete non diretta, A è simmetrica.</a:t>
            </a:r>
            <a:endParaRPr b="0" lang="it-IT" sz="1950" spc="-1" strike="noStrike">
              <a:latin typeface="Arial"/>
            </a:endParaRPr>
          </a:p>
        </p:txBody>
      </p:sp>
      <p:graphicFrame>
        <p:nvGraphicFramePr>
          <p:cNvPr id="70" name=""/>
          <p:cNvGraphicFramePr/>
          <p:nvPr/>
        </p:nvGraphicFramePr>
        <p:xfrm>
          <a:off x="457200" y="3067200"/>
          <a:ext cx="4190760" cy="2761920"/>
        </p:xfrm>
        <a:graphic>
          <a:graphicData uri="http://schemas.openxmlformats.org/drawingml/2006/table">
            <a:tbl>
              <a:tblPr/>
              <a:tblGrid>
                <a:gridCol w="618840"/>
                <a:gridCol w="714240"/>
                <a:gridCol w="714240"/>
                <a:gridCol w="714240"/>
                <a:gridCol w="714240"/>
                <a:gridCol w="714960"/>
              </a:tblGrid>
              <a:tr h="460080">
                <a:tc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it-IT" sz="187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it-IT" sz="187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2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it-IT" sz="187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3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it-IT" sz="187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4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it-IT" sz="187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5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460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0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2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0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3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0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4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5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it-IT" sz="187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0</a:t>
                      </a:r>
                      <a:endParaRPr b="0" lang="it-IT" sz="187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5838840" y="2981160"/>
            <a:ext cx="2904840" cy="247608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5791320" y="5638680"/>
            <a:ext cx="31428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5 nodi, 5 archi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6162840"/>
            <a:ext cx="88578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Lato"/>
                <a:ea typeface="Lato"/>
              </a:rPr>
              <a:t>Lista di archi: (1,2), (2,3), (2,4), (2,5), (4,5)</a:t>
            </a:r>
            <a:endParaRPr b="0" lang="it-IT" sz="1729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Lato"/>
                <a:ea typeface="Lato"/>
              </a:rPr>
              <a:t>Per reti sparse, le liste sono spesso più pratiche.</a:t>
            </a:r>
            <a:endParaRPr b="0" lang="it-IT" sz="172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Vicini, grado e distribuzione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04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7200" y="140004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Grado kᵢ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7200" y="178128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Il numero dei vicini del nodo i.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" y="2610000"/>
            <a:ext cx="41907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Nell’esempio: k₂ = 4</a:t>
            </a:r>
            <a:endParaRPr b="0" lang="it-IT" sz="2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Gradi: 1, 4, 1, 2, 2</a:t>
            </a:r>
            <a:endParaRPr b="0" lang="it-IT" sz="217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200" y="3828960"/>
            <a:ext cx="4095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Grado medio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7200" y="4305240"/>
            <a:ext cx="4190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550" spc="-1" strike="noStrike">
                <a:solidFill>
                  <a:srgbClr val="161616"/>
                </a:solidFill>
                <a:latin typeface="Lato"/>
                <a:ea typeface="Lato"/>
              </a:rPr>
              <a:t>⟨</a:t>
            </a:r>
            <a:r>
              <a:rPr b="0" lang="it-IT" sz="2550" spc="-1" strike="noStrike">
                <a:solidFill>
                  <a:srgbClr val="161616"/>
                </a:solidFill>
                <a:latin typeface="Lato"/>
                <a:ea typeface="Lato"/>
              </a:rPr>
              <a:t>k⟩ = 2L / N = 2</a:t>
            </a:r>
            <a:endParaRPr b="0" lang="it-IT" sz="2550" spc="-1" strike="noStrike"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57200" y="5010120"/>
            <a:ext cx="40953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870" spc="-1" strike="noStrike">
                <a:solidFill>
                  <a:srgbClr val="161616"/>
                </a:solidFill>
                <a:latin typeface="Lato"/>
                <a:ea typeface="Lato"/>
              </a:rPr>
              <a:t>Ogni arco contribuisce</a:t>
            </a:r>
            <a:endParaRPr b="0" lang="it-IT" sz="18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870" spc="-1" strike="noStrike">
                <a:solidFill>
                  <a:srgbClr val="161616"/>
                </a:solidFill>
                <a:latin typeface="Lato"/>
                <a:ea typeface="Lato"/>
              </a:rPr>
              <a:t>al grado di due nodi.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000760" y="2619360"/>
            <a:ext cx="43336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P(k): quota di nodi con grado k</a:t>
            </a:r>
            <a:endParaRPr b="0" lang="it-IT" sz="1950" spc="-1" strike="noStrike">
              <a:latin typeface="Arial"/>
            </a:endParaRPr>
          </a:p>
        </p:txBody>
      </p:sp>
      <p:graphicFrame>
        <p:nvGraphicFramePr>
          <p:cNvPr id="83" name="Chart"/>
          <p:cNvGraphicFramePr/>
          <p:nvPr/>
        </p:nvGraphicFramePr>
        <p:xfrm>
          <a:off x="4933800" y="3467160"/>
          <a:ext cx="4314600" cy="284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Clustering: i vicini sono collegati?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05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57200" y="1419120"/>
            <a:ext cx="88387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Misura quanto i vicini di un nodo si conoscono tra loro.</a:t>
            </a:r>
            <a:endParaRPr b="0" lang="it-IT" sz="217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57200" y="2467080"/>
            <a:ext cx="88768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250" spc="-1" strike="noStrike">
                <a:solidFill>
                  <a:srgbClr val="161616"/>
                </a:solidFill>
                <a:latin typeface="Lato"/>
                <a:ea typeface="Lato"/>
              </a:rPr>
              <a:t>Cᵢ = archi tra i vicini / archi possibili tra i vicini</a:t>
            </a:r>
            <a:endParaRPr b="0" lang="it-IT" sz="225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7200" y="3171960"/>
            <a:ext cx="8838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Con kᵢ vicini, le coppie possibili sono kᵢ(kᵢ − 1) / 2.</a:t>
            </a:r>
            <a:endParaRPr b="0" lang="it-IT" sz="195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1862640" y="3828960"/>
            <a:ext cx="6084720" cy="222840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457200" y="6191280"/>
            <a:ext cx="88387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800" spc="-1" strike="noStrike">
                <a:solidFill>
                  <a:srgbClr val="161616"/>
                </a:solidFill>
                <a:latin typeface="Lato"/>
                <a:ea typeface="Lato"/>
              </a:rPr>
              <a:t>Il clustering medio ⟨C⟩ è la media dei Cᵢ.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800" spc="-1" strike="noStrike">
                <a:solidFill>
                  <a:srgbClr val="161616"/>
                </a:solidFill>
                <a:latin typeface="Lato"/>
                <a:ea typeface="Lato"/>
              </a:rPr>
              <a:t>Se un nodo ha meno di 2 vicini, usiamo Cᵢ = 0.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Distanze e componenti connesse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06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57200" y="140004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Cammino e distanza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57200" y="178128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Un cammino segue gli archi. La distanza conta gli archi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del cammino più breve.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57200" y="272412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Diametro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57200" y="310500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La maggiore tra tutte le distanze minime della rete.</a:t>
            </a:r>
            <a:endParaRPr b="0" lang="it-IT" sz="195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590400" y="3963240"/>
            <a:ext cx="3857400" cy="211248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5392080" y="3828960"/>
            <a:ext cx="3521880" cy="220932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743040" y="6200640"/>
            <a:ext cx="38858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729" spc="-1" strike="noStrike">
                <a:solidFill>
                  <a:srgbClr val="ff3399"/>
                </a:solidFill>
                <a:latin typeface="Lato"/>
                <a:ea typeface="Lato"/>
              </a:rPr>
              <a:t>Cammino evidenziato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238720" y="6200640"/>
            <a:ext cx="40953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729" spc="-1" strike="noStrike">
                <a:solidFill>
                  <a:srgbClr val="ff3399"/>
                </a:solidFill>
                <a:latin typeface="Lato"/>
                <a:ea typeface="Lato"/>
              </a:rPr>
              <a:t>Due componenti connesse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57200" y="6610320"/>
            <a:ext cx="838152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Lato"/>
                <a:ea typeface="Lato"/>
              </a:rPr>
              <a:t>In una componente, ogni coppia di nodi è raggiungibile.</a:t>
            </a:r>
            <a:endParaRPr b="0" lang="it-IT" sz="15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Lato"/>
                <a:ea typeface="Lato"/>
              </a:rPr>
              <a:t>Tra componenti diverse non esiste un cammino.</a:t>
            </a:r>
            <a:endParaRPr b="0" lang="it-IT" sz="15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Rete regolare: il reticolo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07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57200" y="1390680"/>
            <a:ext cx="883872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Un modello semplice: ogni nodo si collega ai vicini nello spazio.</a:t>
            </a:r>
            <a:endParaRPr b="0" lang="it-IT" sz="21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82920" y="2762280"/>
            <a:ext cx="3300840" cy="332388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4695840" y="2638440"/>
            <a:ext cx="447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2100" spc="-1" strike="noStrike">
                <a:solidFill>
                  <a:srgbClr val="ff3399"/>
                </a:solidFill>
                <a:latin typeface="Lato"/>
                <a:ea typeface="Lato"/>
              </a:rPr>
              <a:t>Reticolo quadrato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695840" y="3238560"/>
            <a:ext cx="4476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250" spc="-1" strike="noStrike">
                <a:solidFill>
                  <a:srgbClr val="161616"/>
                </a:solidFill>
                <a:latin typeface="Lato"/>
                <a:ea typeface="Lato"/>
              </a:rPr>
              <a:t>4 vicini per nodo*</a:t>
            </a:r>
            <a:endParaRPr b="0" lang="it-IT" sz="225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695840" y="3943440"/>
            <a:ext cx="44762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Nessun triangolo: C = 0</a:t>
            </a:r>
            <a:endParaRPr b="0" lang="it-IT" sz="202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695840" y="4781520"/>
            <a:ext cx="4476240" cy="8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Le distanze crescono</a:t>
            </a:r>
            <a:endParaRPr b="0" lang="it-IT" sz="2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come √N.</a:t>
            </a:r>
            <a:endParaRPr b="0" lang="it-IT" sz="217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57200" y="6419880"/>
            <a:ext cx="8857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650" spc="-1" strike="noStrike">
                <a:solidFill>
                  <a:srgbClr val="555555"/>
                </a:solidFill>
                <a:latin typeface="Lato"/>
                <a:ea typeface="Lato"/>
              </a:rPr>
              <a:t>*Con bordi periodici, oppure lontano dal bordo.</a:t>
            </a:r>
            <a:endParaRPr b="0" lang="it-IT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Rete casuale: Erdős–Rényi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08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57200" y="1400040"/>
            <a:ext cx="8848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320" spc="-1" strike="noStrike">
                <a:solidFill>
                  <a:srgbClr val="161616"/>
                </a:solidFill>
                <a:latin typeface="Lato"/>
                <a:ea typeface="Lato"/>
              </a:rPr>
              <a:t>G(N, p): ogni coppia si collega con probabilità p.</a:t>
            </a:r>
            <a:endParaRPr b="0" lang="it-IT" sz="232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57200" y="2428920"/>
            <a:ext cx="8848440" cy="14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1  Creiamo N nodi.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2  Consideriamo ogni coppia una sola volta.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3  Aggiungiamo un arco con probabilità p.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457200" y="4191120"/>
            <a:ext cx="876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780" spc="-1" strike="noStrike">
                <a:solidFill>
                  <a:srgbClr val="161616"/>
                </a:solidFill>
                <a:latin typeface="Lato"/>
                <a:ea typeface="Lato"/>
              </a:rPr>
              <a:t>⟨</a:t>
            </a:r>
            <a:r>
              <a:rPr b="0" lang="it-IT" sz="2780" spc="-1" strike="noStrike">
                <a:solidFill>
                  <a:srgbClr val="161616"/>
                </a:solidFill>
                <a:latin typeface="Lato"/>
                <a:ea typeface="Lato"/>
              </a:rPr>
              <a:t>k⟩ = p(N − 1)</a:t>
            </a:r>
            <a:endParaRPr b="0" lang="it-IT" sz="278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57200" y="5010120"/>
            <a:ext cx="879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I gradi si concentrano vicino alla media:</a:t>
            </a:r>
            <a:endParaRPr b="0" lang="it-IT" sz="2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distribuzione binomiale, circa Poisson se la rete è sparsa.</a:t>
            </a:r>
            <a:endParaRPr b="0" lang="it-IT" sz="202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57200" y="6134040"/>
            <a:ext cx="88484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Distanze brevi, ma poco clustering quando p è piccolo.</a:t>
            </a:r>
            <a:endParaRPr b="0" lang="it-IT" sz="18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La rete può avere più componenti.</a:t>
            </a:r>
            <a:endParaRPr b="0" lang="it-IT" sz="187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Small world: bastano poche scorciatoie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09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57200" y="1400040"/>
            <a:ext cx="88387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320" spc="-1" strike="noStrike">
                <a:solidFill>
                  <a:srgbClr val="161616"/>
                </a:solidFill>
                <a:latin typeface="Lato"/>
                <a:ea typeface="Lato"/>
              </a:rPr>
              <a:t>Molte reti combinano distanze brevi e alto clustering.</a:t>
            </a:r>
            <a:endParaRPr b="0" lang="it-IT" sz="232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2343240"/>
            <a:ext cx="88387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Watts–Strogatz: partiamo da un anello regolare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e ricolleghiamo una piccola quota di archi.</a:t>
            </a:r>
            <a:endParaRPr b="0" lang="it-IT" sz="21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762120" y="3717000"/>
            <a:ext cx="2219040" cy="232884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3762360" y="3720600"/>
            <a:ext cx="2161800" cy="23216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6762600" y="3721320"/>
            <a:ext cx="2219040" cy="2319840"/>
          </a:xfrm>
          <a:prstGeom prst="rect">
            <a:avLst/>
          </a:prstGeom>
          <a:ln w="0">
            <a:noFill/>
          </a:ln>
        </p:spPr>
      </p:pic>
      <p:sp>
        <p:nvSpPr>
          <p:cNvPr id="125" name=""/>
          <p:cNvSpPr/>
          <p:nvPr/>
        </p:nvSpPr>
        <p:spPr>
          <a:xfrm>
            <a:off x="857160" y="3333600"/>
            <a:ext cx="20952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870" spc="-1" strike="noStrike">
                <a:solidFill>
                  <a:srgbClr val="161616"/>
                </a:solidFill>
                <a:latin typeface="Lato"/>
                <a:ea typeface="Lato"/>
              </a:rPr>
              <a:t>Regolare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714840" y="3333600"/>
            <a:ext cx="2381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Small world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143840" y="3333600"/>
            <a:ext cx="19047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870" spc="-1" strike="noStrike">
                <a:solidFill>
                  <a:srgbClr val="161616"/>
                </a:solidFill>
                <a:latin typeface="Lato"/>
                <a:ea typeface="Lato"/>
              </a:rPr>
              <a:t>Casuale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57200" y="6267600"/>
            <a:ext cx="88293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Le scorciatoie avvicinano nodi lontani,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mentre molti legami locali rimangono.</a:t>
            </a:r>
            <a:endParaRPr b="0" lang="it-IT" sz="1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Reti reali e hub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10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57200" y="140976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Gradi molto diversi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57200" y="179064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Molti nodi hanno pochi legami. Alcuni ne hanno moltissimi.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57200" y="274320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Hub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57200" y="312408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Un nodo particolarmente connesso, come un grande aeroporto.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57200" y="4114800"/>
            <a:ext cx="8838720" cy="92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400" spc="-1" strike="noStrike">
                <a:solidFill>
                  <a:srgbClr val="161616"/>
                </a:solidFill>
                <a:latin typeface="Lato"/>
                <a:ea typeface="Lato"/>
              </a:rPr>
              <a:t>Una distribuzione con coda pesante</a:t>
            </a:r>
            <a:endParaRPr b="0" lang="it-IT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400" spc="-1" strike="noStrike">
                <a:solidFill>
                  <a:srgbClr val="161616"/>
                </a:solidFill>
                <a:latin typeface="Lato"/>
                <a:ea typeface="Lato"/>
              </a:rPr>
              <a:t>rende più probabili i gradi molto elevati.</a:t>
            </a:r>
            <a:endParaRPr b="0" lang="it-IT" sz="240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57200" y="5429160"/>
            <a:ext cx="88387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In una rete di contatti, gli hub possono favorire la diffusione.</a:t>
            </a:r>
            <a:endParaRPr b="0" lang="it-IT" sz="2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Contano anche durata, tempi e tipo dei contatti.</a:t>
            </a:r>
            <a:endParaRPr b="0" lang="it-IT" sz="2020" spc="-1" strike="noStrike"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457200" y="6524640"/>
            <a:ext cx="8838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00" spc="-1" strike="noStrike">
                <a:solidFill>
                  <a:srgbClr val="ff3399"/>
                </a:solidFill>
                <a:latin typeface="Lato"/>
                <a:ea typeface="Lato"/>
              </a:rPr>
              <a:t>Le reti reali possono cambiare nel tempo.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Leggi di potenza e variabilità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11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57200" y="1409760"/>
            <a:ext cx="88387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Le reti scale-free hanno una coda a legge di potenza: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57200" y="2286000"/>
            <a:ext cx="17143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3230" spc="-1" strike="noStrike">
                <a:solidFill>
                  <a:srgbClr val="161616"/>
                </a:solidFill>
                <a:latin typeface="Lato"/>
                <a:ea typeface="Lato"/>
              </a:rPr>
              <a:t>P(k) ∝ k</a:t>
            </a:r>
            <a:endParaRPr b="0" lang="it-IT" sz="323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133720" y="2219400"/>
            <a:ext cx="952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−</a:t>
            </a: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γ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476520" y="2247840"/>
            <a:ext cx="57146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γ regola quanto rapidamente</a:t>
            </a:r>
            <a:endParaRPr b="0" lang="it-IT" sz="2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020" spc="-1" strike="noStrike">
                <a:solidFill>
                  <a:srgbClr val="161616"/>
                </a:solidFill>
                <a:latin typeface="Lato"/>
                <a:ea typeface="Lato"/>
              </a:rPr>
              <a:t>diminuisce la probabilità dei gradi elevati.</a:t>
            </a:r>
            <a:endParaRPr b="0" lang="it-IT" sz="202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57200" y="3476520"/>
            <a:ext cx="84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950" spc="-1" strike="noStrike">
                <a:solidFill>
                  <a:srgbClr val="ff3399"/>
                </a:solidFill>
                <a:latin typeface="Lato"/>
                <a:ea typeface="Lato"/>
              </a:rPr>
              <a:t>Stessa media, reti diverse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57200" y="3857760"/>
            <a:ext cx="847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La varianza misura quanto i gradi differiscono dalla media.</a:t>
            </a:r>
            <a:endParaRPr b="0" lang="it-IT" sz="195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57200" y="4695840"/>
            <a:ext cx="88387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Con 2 &lt; γ &lt; 3, nel limite di reti sempre più grandi: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00" spc="-1" strike="noStrike">
                <a:solidFill>
                  <a:srgbClr val="161616"/>
                </a:solidFill>
                <a:latin typeface="Lato"/>
                <a:ea typeface="Lato"/>
              </a:rPr>
              <a:t>la media resta finita, la varianza cresce senza limite.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57200" y="6076800"/>
            <a:ext cx="88387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Nelle reti finite i valori restano finiti.</a:t>
            </a:r>
            <a:endParaRPr b="0" lang="it-IT" sz="18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Una coda pesante non prova da sola una legge di potenza.</a:t>
            </a:r>
            <a:endParaRPr b="0" lang="it-IT" sz="187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Barabási–Albert: crescita e preferenza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12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57200" y="1400040"/>
            <a:ext cx="88387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250" spc="-1" strike="noStrike">
                <a:solidFill>
                  <a:srgbClr val="161616"/>
                </a:solidFill>
                <a:latin typeface="Lato"/>
                <a:ea typeface="Lato"/>
              </a:rPr>
              <a:t>Chi ha più collegamenti tende a riceverne di nuovi.</a:t>
            </a:r>
            <a:endParaRPr b="0" lang="it-IT" sz="2250" spc="-1" strike="noStrike"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57200" y="2419200"/>
            <a:ext cx="6210000" cy="30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1  Partiamo da pochi nodi collegati.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2  Aggiungiamo un nuovo nodo.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3  Creiamo m archi verso nodi esistenti,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    </a:t>
            </a: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favorendo quelli con grado maggiore.</a:t>
            </a: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it-IT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950" spc="-1" strike="noStrike">
                <a:solidFill>
                  <a:srgbClr val="161616"/>
                </a:solidFill>
                <a:latin typeface="Lato"/>
                <a:ea typeface="Lato"/>
              </a:rPr>
              <a:t>4  Ripetiamo fino a N nodi.</a:t>
            </a:r>
            <a:endParaRPr b="0" lang="it-IT" sz="195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7077960" y="2467080"/>
            <a:ext cx="1626840" cy="2371320"/>
          </a:xfrm>
          <a:prstGeom prst="rect">
            <a:avLst/>
          </a:prstGeom>
          <a:ln w="0">
            <a:noFill/>
          </a:ln>
        </p:spPr>
      </p:pic>
      <p:sp>
        <p:nvSpPr>
          <p:cNvPr id="153" name=""/>
          <p:cNvSpPr/>
          <p:nvPr/>
        </p:nvSpPr>
        <p:spPr>
          <a:xfrm>
            <a:off x="6838920" y="5095800"/>
            <a:ext cx="226656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729" spc="-1" strike="noStrike">
                <a:solidFill>
                  <a:srgbClr val="ff3399"/>
                </a:solidFill>
                <a:latin typeface="Lato"/>
                <a:ea typeface="Lato"/>
              </a:rPr>
              <a:t>Nuovo nodo</a:t>
            </a:r>
            <a:endParaRPr b="0" lang="it-IT" sz="1729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it-IT" sz="1729" spc="-1" strike="noStrike">
                <a:solidFill>
                  <a:srgbClr val="ff3399"/>
                </a:solidFill>
                <a:latin typeface="Lato"/>
                <a:ea typeface="Lato"/>
              </a:rPr>
              <a:t>in arancione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457200" y="6076800"/>
            <a:ext cx="88387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Risultato: hub e una coda con esponente γ = 3.</a:t>
            </a:r>
            <a:endParaRPr b="0" lang="it-IT" sz="2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2170" spc="-1" strike="noStrike">
                <a:solidFill>
                  <a:srgbClr val="161616"/>
                </a:solidFill>
                <a:latin typeface="Lato"/>
                <a:ea typeface="Lato"/>
              </a:rPr>
              <a:t>Il grado medio tende a 2m.</a:t>
            </a:r>
            <a:endParaRPr b="0" lang="it-IT" sz="217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I modelli a confronto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13</a:t>
            </a:r>
            <a:endParaRPr b="0" lang="it-IT" sz="1200" spc="-1" strike="noStrike">
              <a:latin typeface="Arial"/>
            </a:endParaRPr>
          </a:p>
        </p:txBody>
      </p:sp>
      <p:graphicFrame>
        <p:nvGraphicFramePr>
          <p:cNvPr id="157" name=""/>
          <p:cNvGraphicFramePr/>
          <p:nvPr/>
        </p:nvGraphicFramePr>
        <p:xfrm>
          <a:off x="457200" y="1514520"/>
          <a:ext cx="8838720" cy="3676320"/>
        </p:xfrm>
        <a:graphic>
          <a:graphicData uri="http://schemas.openxmlformats.org/drawingml/2006/table">
            <a:tbl>
              <a:tblPr/>
              <a:tblGrid>
                <a:gridCol w="2428560"/>
                <a:gridCol w="2428560"/>
                <a:gridCol w="1981080"/>
                <a:gridCol w="2000520"/>
              </a:tblGrid>
              <a:tr h="735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it-IT" sz="180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Modello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it-IT" sz="180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Gradi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it-IT" sz="180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Clustering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it-IT" sz="1800" spc="-1" strike="noStrike">
                          <a:solidFill>
                            <a:srgbClr val="ff3399"/>
                          </a:solidFill>
                          <a:latin typeface="Lato"/>
                          <a:ea typeface="Lato"/>
                        </a:rPr>
                        <a:t>Distanze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735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Reticolo</a:t>
                      </a:r>
                      <a:endParaRPr b="0" lang="it-IT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quadrato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Uguali*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Nullo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Lunghe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5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Erdős–Rényi</a:t>
                      </a:r>
                      <a:endParaRPr b="0" lang="it-IT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(sparso)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Vicini alla</a:t>
                      </a:r>
                      <a:endParaRPr b="0" lang="it-IT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media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Basso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Brevi**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5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Watts–Strogatz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Poco variabili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Alto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Brevi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58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Barabási–Albert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Molto variabili,</a:t>
                      </a:r>
                      <a:endParaRPr b="0" lang="it-IT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con hub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Spesso basso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it-IT" sz="1800" spc="-1" strike="noStrike">
                          <a:solidFill>
                            <a:srgbClr val="161616"/>
                          </a:solidFill>
                          <a:latin typeface="Lato"/>
                          <a:ea typeface="Lato"/>
                        </a:rPr>
                        <a:t>Brevi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"/>
          <p:cNvSpPr/>
          <p:nvPr/>
        </p:nvSpPr>
        <p:spPr>
          <a:xfrm>
            <a:off x="457200" y="5362560"/>
            <a:ext cx="882936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00" spc="-1" strike="noStrike">
                <a:solidFill>
                  <a:srgbClr val="555555"/>
                </a:solidFill>
                <a:latin typeface="Lato"/>
                <a:ea typeface="Lato"/>
              </a:rPr>
              <a:t>*Con bordi periodici.  **Nella grande componente, sopra la soglia critica.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57200" y="6086520"/>
            <a:ext cx="8838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2250" spc="-1" strike="noStrike">
                <a:solidFill>
                  <a:srgbClr val="ff3399"/>
                </a:solidFill>
                <a:latin typeface="Lato"/>
                <a:ea typeface="Lato"/>
              </a:rPr>
              <a:t>Per la diffusione contano la struttura dei contatti</a:t>
            </a:r>
            <a:endParaRPr b="0" lang="it-IT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it-IT" sz="2250" spc="-1" strike="noStrike">
                <a:solidFill>
                  <a:srgbClr val="ff3399"/>
                </a:solidFill>
                <a:latin typeface="Lato"/>
                <a:ea typeface="Lato"/>
              </a:rPr>
              <a:t>e il processo che si svolge sulla rete.</a:t>
            </a:r>
            <a:endParaRPr b="0" lang="it-IT" sz="2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Python 1/2: creare e disegnare una rete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14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457200" y="1305000"/>
            <a:ext cx="8838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00" spc="-1" strike="noStrike">
                <a:solidFill>
                  <a:srgbClr val="ff3399"/>
                </a:solidFill>
                <a:latin typeface="Lato"/>
                <a:ea typeface="Lato"/>
              </a:rPr>
              <a:t>Installazione nel terminale: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57200" y="172404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python -m pip install networkx matplotlib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57200" y="239076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import networkx as nx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7200" y="270504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import matplotlib.pyplot as plt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7200" y="301932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"/>
          <p:cNvSpPr/>
          <p:nvPr/>
        </p:nvSpPr>
        <p:spPr>
          <a:xfrm>
            <a:off x="457200" y="333360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777777"/>
                </a:solidFill>
                <a:latin typeface="DejaVu Sans Mono"/>
                <a:ea typeface="DejaVu Sans Mono"/>
              </a:rPr>
              <a:t># Ogni coppia rappresenta un arco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457200" y="364824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archi = [(1, 2), (2, 3), (2, 4),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57200" y="396252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         </a:t>
            </a: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(2, 5), (4, 5)]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57200" y="427680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G = nx.Graph()  # rete non diretta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57200" y="459108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G.add_edges_from(archi)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57200" y="490536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"/>
          <p:cNvSpPr/>
          <p:nvPr/>
        </p:nvSpPr>
        <p:spPr>
          <a:xfrm>
            <a:off x="457200" y="521964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pos = nx.spring_layout(G, seed=7)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457200" y="553392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nx.draw(G, pos, with_labels=True)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457200" y="5848200"/>
            <a:ext cx="8838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plt.show()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57200" y="6543720"/>
            <a:ext cx="8857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729" spc="-1" strike="noStrike">
                <a:solidFill>
                  <a:srgbClr val="ff3399"/>
                </a:solidFill>
                <a:latin typeface="Lato"/>
                <a:ea typeface="Lato"/>
              </a:rPr>
              <a:t>I nodi si creano automaticamente aggiungendo gli archi.</a:t>
            </a:r>
            <a:endParaRPr b="0" lang="it-IT" sz="172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457200" y="457200"/>
            <a:ext cx="8838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2850" spc="-1" strike="noStrike">
                <a:solidFill>
                  <a:srgbClr val="161616"/>
                </a:solidFill>
                <a:latin typeface="Lato"/>
                <a:ea typeface="Lato"/>
              </a:rPr>
              <a:t>Python 2/2: misure e modelli</a:t>
            </a:r>
            <a:endParaRPr b="0" lang="it-IT" sz="285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8962920" y="689616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rgbClr val="777777"/>
                </a:solidFill>
                <a:latin typeface="Lato"/>
                <a:ea typeface="Lato"/>
              </a:rPr>
              <a:t>15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57200" y="1324080"/>
            <a:ext cx="8838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Misure sulla rete G della slide precedente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57200" y="191448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print(G.number_of_nodes(), G.number_of_edges()) # 5 5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57200" y="224784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print(G.degree[2])                              # 4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57200" y="258120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print(nx.density(G))                            # 0.5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57200" y="291456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print(nx.shortest_path_length(G, 1, 3))          # 2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57200" y="3581280"/>
            <a:ext cx="8838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870" spc="-1" strike="noStrike">
                <a:solidFill>
                  <a:srgbClr val="ff3399"/>
                </a:solidFill>
                <a:latin typeface="Lato"/>
                <a:ea typeface="Lato"/>
              </a:rPr>
              <a:t>Generazione dei modelli</a:t>
            </a:r>
            <a:endParaRPr b="0" lang="it-IT" sz="1870" spc="-1" strike="noStrike"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57200" y="414324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ER = nx.gnp_random_graph(30, 4/29, seed=7)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457200" y="447660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WS = nx.watts_strogatz_graph(30, 4, 0.1, seed=7)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57200" y="480996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BA = nx.barabasi_albert_graph(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57200" y="5143680"/>
            <a:ext cx="89150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    </a:t>
            </a:r>
            <a:r>
              <a:rPr b="0" lang="it-IT" sz="1580" spc="-1" strike="noStrike">
                <a:solidFill>
                  <a:srgbClr val="161616"/>
                </a:solidFill>
                <a:latin typeface="DejaVu Sans Mono"/>
                <a:ea typeface="DejaVu Sans Mono"/>
              </a:rPr>
              <a:t>30, 2, seed=7, initial_graph=nx.complete_graph(4))</a:t>
            </a:r>
            <a:endParaRPr b="0" lang="it-IT" sz="1580" spc="-1" strike="noStrike"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457200" y="5857920"/>
            <a:ext cx="8905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Lato"/>
                <a:ea typeface="Lato"/>
              </a:rPr>
              <a:t>N = 30. Per WS, 0.1 è la probabilità di ricollegare un arco.</a:t>
            </a:r>
            <a:endParaRPr b="0" lang="it-IT" sz="1729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729" spc="-1" strike="noStrike">
                <a:solidFill>
                  <a:srgbClr val="161616"/>
                </a:solidFill>
                <a:latin typeface="Lato"/>
                <a:ea typeface="Lato"/>
              </a:rPr>
              <a:t>Per BA, ogni nuovo nodo crea 2 archi. seed rende l’esempio ripetibile.</a:t>
            </a:r>
            <a:endParaRPr b="0" lang="it-IT" sz="1729" spc="-1" strike="noStrike"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57200" y="6734160"/>
            <a:ext cx="8848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it-IT" sz="1580" spc="-1" strike="noStrike">
                <a:solidFill>
                  <a:srgbClr val="ff3399"/>
                </a:solidFill>
                <a:latin typeface="Lato"/>
                <a:ea typeface="Lato"/>
              </a:rPr>
              <a:t>Prova: calcola il clustering medio dei tre modelli.</a:t>
            </a:r>
            <a:endParaRPr b="0" lang="it-IT" sz="15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2026-10-08T20:24:16Z</dcterms:created>
  <dc:creator>Walnut Exporter</dc:creator>
  <dc:description/>
  <dc:language>it-IT</dc:language>
  <cp:lastModifiedBy/>
  <dcterms:modified xsi:type="dcterms:W3CDTF">2026-10-08T22:52:10Z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